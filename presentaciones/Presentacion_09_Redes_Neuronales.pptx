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C1592F"/>
                </a:solidFill>
                <a:latin typeface="Calibri"/>
              </a:rPr>
              <a:t>MÓDULO 11 · PRESENTACIÓN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11535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Redes Neuronales y Deep Learning Básico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2578608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Objetivo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Introducir los fundamentos de Deep Learning con TensorFlow/Keras, construir un Perceptrón Multicapa (MLP) sobre el caso de negocio y compararlo con modelos clásicos.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813048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3785616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Audiencia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Profesionales de Salud, Economía, Comunicación e Ingeniería.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5020056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4992624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Conexión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Cierra el ciclo de modelamiento del seminario comparando el enfoque más complejo (redes neuronales) contra los modelos clásicos de los Módulos 7-8.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CBBBA8"/>
                </a:solidFill>
                <a:latin typeface="Calibri"/>
              </a:rPr>
              <a:t>Presentación 9 · Redes Neuronales y Deep Learning Básico</a:t>
            </a:r>
          </a:p>
        </p:txBody>
      </p:sp>
      <p:sp>
        <p:nvSpPr>
          <p:cNvPr id="12" name="Oval 11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DEL PERCEPTRÓN SIMPLE A LAS REDES NEURONALES PROFUNDAS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Fundamento conceptual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9 · Redes Neuronales y Deep Learning Básico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1153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Un perceptrón simple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es, en esencia, una versión de la Regresión Logística (Módulo 7): combina variables linealmente y aplica una función de activación.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Una red neuronal profunda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apila múltiples capas de "perceptrones" (neuronas), permitiendo aprender representaciones intermedias cada vez más abstractas.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No es un algoritmo nuevo en su lógica base: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es una composición de transformaciones simples encadenadas.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CAPA DE ENTRADA, CAPAS OCULTAS Y CAPA DE SALIDA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Arquitectura de un MLP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9 · Redes Neuronales y Deep Learning Básico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27883"/>
                <a:gridCol w="8183651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Capa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Función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Entrada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Recibe las variables predictoras (26 columnas del dataset procesado)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Oculta(s)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Aprende combinaciones no lineales de las variables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Salida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Produce la predicción final (probabilidad de churn)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553712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El número de neuronas en la capa de entrada está fijo por el número de variables; el de la capa de salida por el tipo de problema (1 neurona para clasificación binaria).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RELU, SIGMOIDE Y SOFTMAX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Funciones de activación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9 · Redes Neuronales y Deep Learning Básico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2307"/>
                <a:gridCol w="5455767"/>
                <a:gridCol w="32734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Función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Uso típico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Rango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ReLU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Capas ocultas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[0, ∞)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Sigmoide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Capa de salida — clasificación binaria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(0, 1)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Softmax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Capa de salida — clasificación multiclase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(0, 1), suma = 1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553712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ReLU es la función estándar en capas ocultas porque evita el problema de "gradientes que desaparecen" presente en funciones más antiguas como la sigmoide.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FUNCIÓN DE PÉRDIDA (LOSS), OPTIMIZADORES (ADAM) Y BACKPROPAGATION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Entrenamiento de la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9 · Redes Neuronales y Deep Learning Básico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1153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Función de pérdida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(binary_crossentropy): cuantifica qué tan lejos está la predicción de la etiqueta real.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Backpropagation: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algoritmo que calcula cómo ajustar cada peso de la red para reducir la pérdida, propagando el error desde la salida hacia la entrada.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Adam: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optimizador que ajusta automáticamente la tasa de aprendizaje durante el entrenamiento — estándar de facto por su estabilidad y eficiencia.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ESTRUCTURA DE CÓDIGO CON TENSORFLOW Y KERAS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Implementación en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9 · Redes Neuronales y Deep Learning Básico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4517136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8_NN.ipynb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F3ECE2"/>
                </a:solidFill>
                <a:latin typeface="Courier New"/>
              </a:rPr>
              <a:t>from tensorflow.keras import Sequential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F3ECE2"/>
                </a:solidFill>
                <a:latin typeface="Courier New"/>
              </a:rPr>
              <a:t>from tensorflow.keras.layers import Dense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F3ECE2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F3ECE2"/>
                </a:solidFill>
                <a:latin typeface="Courier New"/>
              </a:rPr>
              <a:t>modelo = Sequential([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F3ECE2"/>
                </a:solidFill>
                <a:latin typeface="Courier New"/>
              </a:rPr>
              <a:t>    Dense(32, activation='relu', input_shape=(X_train.shape[1],)),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F3ECE2"/>
                </a:solidFill>
                <a:latin typeface="Courier New"/>
              </a:rPr>
              <a:t>    Dense(16, activation='relu'),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F3ECE2"/>
                </a:solidFill>
                <a:latin typeface="Courier New"/>
              </a:rPr>
              <a:t>    Dense(1, activation='sigmoid')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F3ECE2"/>
                </a:solidFill>
                <a:latin typeface="Courier New"/>
              </a:rPr>
              <a:t>])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F3ECE2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F3ECE2"/>
                </a:solidFill>
                <a:latin typeface="Courier New"/>
              </a:rPr>
              <a:t>modelo.compile(optimizer='adam', loss='binary_crossentropy',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F3ECE2"/>
                </a:solidFill>
                <a:latin typeface="Courier New"/>
              </a:rPr>
              <a:t>               metrics=['accuracy'])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F3ECE2"/>
                </a:solidFill>
                <a:latin typeface="Courier New"/>
              </a:rPr>
              <a:t>modelo.fit(X_train, y_train, epochs=50, validation_split=0.2)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DETECCIÓN VISUAL DE OVERFITTING EN ENTRENAMIENTO VS. VALIDACIÓN — SALIDA REAL DE 8_NN.IPYNB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Monitoreo de épocas y curvas de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9 · Redes Neuronales y Deep Learning Básico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14010"/>
            <a:ext cx="10911535" cy="3778619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_NN_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960314"/>
            <a:ext cx="10618927" cy="34860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1500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1">
                <a:solidFill>
                  <a:srgbClr val="6B5F4E"/>
                </a:solidFill>
                <a:latin typeface="Calibri"/>
              </a:rPr>
              <a:t>Si la pérdida de entrenamiento sigue bajando mientras la de validación se estabiliza o sube, la red está memorizando — el mismo diagnóstico del Módulo 8, ahora en épocas en lugar de complejidad de árbol.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DROPOUT Y EARLYSTOPPING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Estrategias de regularización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9 · Redes Neuronales y Deep Learning Básico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225295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8_NN.ipynb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from tensorflow.keras.callbacks import EarlyStopping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early_stop = EarlyStopping(monitor='val_loss', patience=5)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3246120"/>
          <a:ext cx="10911534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27883"/>
                <a:gridCol w="818365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Técnica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Cómo actúa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3D2B1E"/>
                          </a:solidFill>
                          <a:latin typeface="Calibri"/>
                        </a:rPr>
                        <a:t>Dropout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6B5F4E"/>
                          </a:solidFill>
                          <a:latin typeface="Calibri"/>
                        </a:rPr>
                        <a:t>Apaga aleatoriamente un % de neuronas en cada iteración, evitando que la red dependa de rutas específicas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3D2B1E"/>
                          </a:solidFill>
                          <a:latin typeface="Calibri"/>
                        </a:rPr>
                        <a:t>EarlyStopping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6B5F4E"/>
                          </a:solidFill>
                          <a:latin typeface="Calibri"/>
                        </a:rPr>
                        <a:t>Detiene el entrenamiento cuando la pérdida de validación deja de mejorar, evitando overfitting por exceso de épocas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DESEMPEÑO EN EL CASO TELCO CHURN — SALIDA REAL DE 8_NN.IPYNB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Evaluación de la red neuronal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9 · Redes Neuronales y Deep Learning Básico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3143" y="1783080"/>
            <a:ext cx="3705408" cy="384048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_NN_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447" y="1929384"/>
            <a:ext cx="3412800" cy="35478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1500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1">
                <a:solidFill>
                  <a:srgbClr val="6B5F4E"/>
                </a:solidFill>
                <a:latin typeface="Calibri"/>
              </a:rPr>
              <a:t>Se aplican las mismas métricas de clasificación de los Módulos 7-8 — el tipo de algoritmo cambia, el marco de evaluación no. La red también entrega probabilidades, así que el ajuste de umbral del Módulo 8 sigue siendo aplicable.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RED NEURONAL VS. RANDOM FOREST Y REGRESIÓN LOGÍSTICA OPTIMIZADOS — SALIDA REAL DE 8_NN.IPYNB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Comparativa directa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9 · Redes Neuronales y Deep Learning Básico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58325" y="1783080"/>
            <a:ext cx="4275045" cy="384048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_NN_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629" y="1929384"/>
            <a:ext cx="3982437" cy="35478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1500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1">
                <a:solidFill>
                  <a:srgbClr val="6B5F4E"/>
                </a:solidFill>
                <a:latin typeface="Calibri"/>
              </a:rPr>
              <a:t>AUC prácticamente empatado (0.841 la red vs. 0.843 Regresión Logística y 0.838 Random Forest). En datasets tabulares de tamaño moderado, la red rara vez supera de forma consistente a un Random Forest bien optimizado.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¿CUÁNDO CONVIENE LA COMPLEJIDAD DE UNA RED NEURONAL Y CUÁNDO UN MODELO CLÁSICO?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Criterio de selección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9 · Redes Neuronales y Deep Learning Básico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11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1018001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3D2B1E"/>
                </a:solidFill>
                <a:latin typeface="Calibri"/>
              </a:rPr>
              <a:t>Volumen de datos: las redes neuronales requieren grandes volúmenes para superar a modelos clásicos — no es el caso de este dataset.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1018001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3D2B1E"/>
                </a:solidFill>
                <a:latin typeface="Calibri"/>
              </a:rPr>
              <a:t>Tipo de dato: imágenes, texto o audio favorecen fuertemente a las redes neuronales; datos tabulares estructurados no siempre.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69080"/>
            <a:ext cx="1018001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3D2B1E"/>
                </a:solidFill>
                <a:latin typeface="Calibri"/>
              </a:rPr>
              <a:t>Necesidad de explicabilidad: si el negocio exige justificar cada decisión, un modelo interpretable es preferible.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C1592F"/>
                </a:solidFill>
                <a:latin typeface="Calibri"/>
              </a:rPr>
              <a:t>EL MITO DE LA "BALA DE PLATA" Y LA COMPLEJIDAD INNECESARIA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CBBBA8"/>
                </a:solidFill>
                <a:latin typeface="Calibri"/>
              </a:rPr>
              <a:t>Presentación 9 · Redes Neuronales y Deep Learning Básico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911535" cy="1280160"/>
          </a:xfrm>
          <a:prstGeom prst="roundRect">
            <a:avLst>
              <a:gd name="adj" fmla="val 10000"/>
            </a:avLst>
          </a:prstGeom>
          <a:solidFill>
            <a:srgbClr val="C1592F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1027145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 i="1">
                <a:solidFill>
                  <a:srgbClr val="241911"/>
                </a:solidFill>
                <a:latin typeface="Cambria"/>
              </a:rPr>
              <a:t>La complejidad de un modelo debe ser proporcional a la complejidad real del problema — no a la moda tecnológica del momento.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109115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50" b="1" i="0">
                <a:solidFill>
                  <a:srgbClr val="C1592F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FFFFFF"/>
                </a:solidFill>
                <a:latin typeface="Calibri"/>
              </a:rPr>
              <a:t>No existe un algoritmo universalmente superior;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 existe el algoritmo adecuado al volumen de datos, tipo de problema y necesidad de explicabilidad.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50" b="1" i="0">
                <a:solidFill>
                  <a:srgbClr val="C1592F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FFFFFF"/>
                </a:solidFill>
                <a:latin typeface="Calibri"/>
              </a:rPr>
              <a:t>Siguiente módulo: </a:t>
            </a:r>
            <a:r>
              <a:rPr sz="1650" b="0" i="0">
                <a:solidFill>
                  <a:srgbClr val="FFFFFF"/>
                </a:solidFill>
                <a:latin typeface="Calibri"/>
              </a:rPr>
              <a:t> Ética, Gobernanza y Explicabilidad — el cierre necesario de todo el ciclo de modelamiento.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