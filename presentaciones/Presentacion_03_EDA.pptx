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63" r:id="rId2"/>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9C5FFC-58AB-42F0-90B1-F58773F61343}" v="1" dt="2026-08-21T21:21:20.6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42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Herrera M." userId="7f434f5315031350" providerId="LiveId" clId="{0E21904C-ADBC-437A-ACA4-7BD1B7FCB9FC}"/>
    <pc:docChg chg="addSld modSld sldOrd">
      <pc:chgData name="Diego Herrera M." userId="7f434f5315031350" providerId="LiveId" clId="{0E21904C-ADBC-437A-ACA4-7BD1B7FCB9FC}" dt="2026-08-21T21:21:22.188" v="2"/>
      <pc:docMkLst>
        <pc:docMk/>
      </pc:docMkLst>
      <pc:sldChg chg="add ord">
        <pc:chgData name="Diego Herrera M." userId="7f434f5315031350" providerId="LiveId" clId="{0E21904C-ADBC-437A-ACA4-7BD1B7FCB9FC}" dt="2026-08-21T21:21:22.188" v="2"/>
        <pc:sldMkLst>
          <pc:docMk/>
          <pc:sldMk cId="2992239400" sldId="36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DBBE4859-49C9-ED88-BD3B-D075F3A24D55}"/>
              </a:ext>
            </a:extLst>
          </p:cNvPr>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ítulo 7">
            <a:extLst>
              <a:ext uri="{FF2B5EF4-FFF2-40B4-BE49-F238E27FC236}">
                <a16:creationId xmlns:a16="http://schemas.microsoft.com/office/drawing/2014/main" id="{7EACCEB7-5963-84F6-5407-3E8C31FD4007}"/>
              </a:ext>
            </a:extLst>
          </p:cNvPr>
          <p:cNvSpPr>
            <a:spLocks noGrp="1"/>
          </p:cNvSpPr>
          <p:nvPr>
            <p:ph type="title"/>
          </p:nvPr>
        </p:nvSpPr>
        <p:spPr/>
        <p:txBody>
          <a:bodyPr/>
          <a:lstStyle/>
          <a:p>
            <a:r>
              <a:rPr lang="es-CO" dirty="0"/>
              <a:t>Analítica y modelamiento de datos</a:t>
            </a:r>
          </a:p>
        </p:txBody>
      </p:sp>
      <p:sp>
        <p:nvSpPr>
          <p:cNvPr id="9" name="Marcador de texto 8">
            <a:extLst>
              <a:ext uri="{FF2B5EF4-FFF2-40B4-BE49-F238E27FC236}">
                <a16:creationId xmlns:a16="http://schemas.microsoft.com/office/drawing/2014/main" id="{76C0A663-6C6F-9562-0D9E-5618BCC97466}"/>
              </a:ext>
            </a:extLst>
          </p:cNvPr>
          <p:cNvSpPr>
            <a:spLocks noGrp="1"/>
          </p:cNvSpPr>
          <p:nvPr>
            <p:ph type="body" idx="1"/>
          </p:nvPr>
        </p:nvSpPr>
        <p:spPr/>
        <p:txBody>
          <a:bodyPr/>
          <a:lstStyle/>
          <a:p>
            <a:r>
              <a:rPr lang="es-ES" dirty="0"/>
              <a:t>Especialización en Analítica de Datos</a:t>
            </a:r>
            <a:endParaRPr lang="es-CO" dirty="0"/>
          </a:p>
        </p:txBody>
      </p:sp>
      <p:pic>
        <p:nvPicPr>
          <p:cNvPr id="10" name="Gráfico 9">
            <a:extLst>
              <a:ext uri="{FF2B5EF4-FFF2-40B4-BE49-F238E27FC236}">
                <a16:creationId xmlns:a16="http://schemas.microsoft.com/office/drawing/2014/main" id="{54C4ABCE-91BC-071C-C03C-7DFC2A06164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62347" y="3560094"/>
            <a:ext cx="2667000" cy="762000"/>
          </a:xfrm>
          <a:prstGeom prst="rect">
            <a:avLst/>
          </a:prstGeom>
        </p:spPr>
      </p:pic>
      <p:sp>
        <p:nvSpPr>
          <p:cNvPr id="11" name="CuadroTexto 10">
            <a:extLst>
              <a:ext uri="{FF2B5EF4-FFF2-40B4-BE49-F238E27FC236}">
                <a16:creationId xmlns:a16="http://schemas.microsoft.com/office/drawing/2014/main" id="{3872CBC3-B3C7-1D1C-DE82-837AD58F326F}"/>
              </a:ext>
            </a:extLst>
          </p:cNvPr>
          <p:cNvSpPr txBox="1"/>
          <p:nvPr/>
        </p:nvSpPr>
        <p:spPr>
          <a:xfrm>
            <a:off x="11049000" y="6546998"/>
            <a:ext cx="1143000" cy="276999"/>
          </a:xfrm>
          <a:prstGeom prst="rect">
            <a:avLst/>
          </a:prstGeom>
          <a:noFill/>
        </p:spPr>
        <p:txBody>
          <a:bodyPr wrap="square" rtlCol="0">
            <a:spAutoFit/>
          </a:bodyPr>
          <a:lstStyle/>
          <a:p>
            <a:pPr algn="ctr"/>
            <a:r>
              <a:rPr lang="es-CO" sz="1200" dirty="0"/>
              <a:t>2026.Ago.21</a:t>
            </a:r>
          </a:p>
        </p:txBody>
      </p:sp>
    </p:spTree>
    <p:extLst>
      <p:ext uri="{BB962C8B-B14F-4D97-AF65-F5344CB8AC3E}">
        <p14:creationId xmlns:p14="http://schemas.microsoft.com/office/powerpoint/2010/main" val="2992239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19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94360"/>
            <a:ext cx="10911535" cy="292608"/>
          </a:xfrm>
          <a:prstGeom prst="rect">
            <a:avLst/>
          </a:prstGeom>
          <a:noFill/>
        </p:spPr>
        <p:txBody>
          <a:bodyPr wrap="square" lIns="0" tIns="0" rIns="0" bIns="0" anchor="t">
            <a:spAutoFit/>
          </a:bodyPr>
          <a:lstStyle/>
          <a:p>
            <a:r>
              <a:rPr sz="1250" b="1" i="0" spc="160">
                <a:solidFill>
                  <a:srgbClr val="C1592F"/>
                </a:solidFill>
                <a:latin typeface="Calibri"/>
              </a:rPr>
              <a:t>MÓDULO 5 · PRESENTACIÓN 3</a:t>
            </a:r>
          </a:p>
        </p:txBody>
      </p:sp>
      <p:sp>
        <p:nvSpPr>
          <p:cNvPr id="4" name="TextBox 3"/>
          <p:cNvSpPr txBox="1"/>
          <p:nvPr/>
        </p:nvSpPr>
        <p:spPr>
          <a:xfrm>
            <a:off x="640080" y="960120"/>
            <a:ext cx="10911535" cy="1417320"/>
          </a:xfrm>
          <a:prstGeom prst="rect">
            <a:avLst/>
          </a:prstGeom>
          <a:noFill/>
        </p:spPr>
        <p:txBody>
          <a:bodyPr wrap="square" lIns="0" tIns="0" rIns="0" bIns="0" anchor="t">
            <a:spAutoFit/>
          </a:bodyPr>
          <a:lstStyle/>
          <a:p>
            <a:pPr>
              <a:lnSpc>
                <a:spcPct val="108000"/>
              </a:lnSpc>
            </a:pPr>
            <a:r>
              <a:rPr sz="3200" b="1" i="0">
                <a:solidFill>
                  <a:srgbClr val="FFFFFF"/>
                </a:solidFill>
                <a:latin typeface="Cambria"/>
              </a:rPr>
              <a:t>Análisis de Datos Exploratorio (EDA)</a:t>
            </a:r>
          </a:p>
        </p:txBody>
      </p:sp>
      <p:sp>
        <p:nvSpPr>
          <p:cNvPr id="5" name="Oval 4"/>
          <p:cNvSpPr/>
          <p:nvPr/>
        </p:nvSpPr>
        <p:spPr>
          <a:xfrm>
            <a:off x="640080" y="2606040"/>
            <a:ext cx="502920" cy="502920"/>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700" b="1" i="0">
                <a:solidFill>
                  <a:srgbClr val="241911"/>
                </a:solidFill>
                <a:latin typeface="Cambria"/>
              </a:rPr>
              <a:t>01</a:t>
            </a:r>
          </a:p>
        </p:txBody>
      </p:sp>
      <p:sp>
        <p:nvSpPr>
          <p:cNvPr id="6" name="TextBox 5"/>
          <p:cNvSpPr txBox="1"/>
          <p:nvPr/>
        </p:nvSpPr>
        <p:spPr>
          <a:xfrm>
            <a:off x="1435608" y="2578608"/>
            <a:ext cx="10116007" cy="1207008"/>
          </a:xfrm>
          <a:prstGeom prst="rect">
            <a:avLst/>
          </a:prstGeom>
          <a:noFill/>
        </p:spPr>
        <p:txBody>
          <a:bodyPr wrap="square" lIns="0" tIns="0" rIns="0" bIns="0" anchor="t">
            <a:spAutoFit/>
          </a:bodyPr>
          <a:lstStyle/>
          <a:p>
            <a:pPr>
              <a:spcAft>
                <a:spcPts val="300"/>
              </a:spcAft>
            </a:pPr>
            <a:r>
              <a:rPr sz="1450" b="1" i="0">
                <a:solidFill>
                  <a:srgbClr val="C1592F"/>
                </a:solidFill>
                <a:latin typeface="Calibri"/>
              </a:rPr>
              <a:t>Objetivo</a:t>
            </a:r>
          </a:p>
          <a:p>
            <a:pPr>
              <a:lnSpc>
                <a:spcPct val="115000"/>
              </a:lnSpc>
            </a:pPr>
            <a:r>
              <a:rPr sz="1500" b="0" i="0">
                <a:solidFill>
                  <a:srgbClr val="CBBBA8"/>
                </a:solidFill>
                <a:latin typeface="Calibri"/>
              </a:rPr>
              <a:t>Diagnosticar la calidad de la información, analizar distribuciones, detectar desbalances de clase y explorar relaciones entre variables.</a:t>
            </a:r>
          </a:p>
        </p:txBody>
      </p:sp>
      <p:sp>
        <p:nvSpPr>
          <p:cNvPr id="7" name="Oval 6"/>
          <p:cNvSpPr/>
          <p:nvPr/>
        </p:nvSpPr>
        <p:spPr>
          <a:xfrm>
            <a:off x="640080" y="3813048"/>
            <a:ext cx="502920" cy="502920"/>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700" b="1" i="0">
                <a:solidFill>
                  <a:srgbClr val="241911"/>
                </a:solidFill>
                <a:latin typeface="Cambria"/>
              </a:rPr>
              <a:t>02</a:t>
            </a:r>
          </a:p>
        </p:txBody>
      </p:sp>
      <p:sp>
        <p:nvSpPr>
          <p:cNvPr id="8" name="TextBox 7"/>
          <p:cNvSpPr txBox="1"/>
          <p:nvPr/>
        </p:nvSpPr>
        <p:spPr>
          <a:xfrm>
            <a:off x="1435608" y="3785616"/>
            <a:ext cx="10116007" cy="1207008"/>
          </a:xfrm>
          <a:prstGeom prst="rect">
            <a:avLst/>
          </a:prstGeom>
          <a:noFill/>
        </p:spPr>
        <p:txBody>
          <a:bodyPr wrap="square" lIns="0" tIns="0" rIns="0" bIns="0" anchor="t">
            <a:spAutoFit/>
          </a:bodyPr>
          <a:lstStyle/>
          <a:p>
            <a:pPr>
              <a:spcAft>
                <a:spcPts val="300"/>
              </a:spcAft>
            </a:pPr>
            <a:r>
              <a:rPr sz="1450" b="1" i="0">
                <a:solidFill>
                  <a:srgbClr val="C1592F"/>
                </a:solidFill>
                <a:latin typeface="Calibri"/>
              </a:rPr>
              <a:t>Audiencia</a:t>
            </a:r>
          </a:p>
          <a:p>
            <a:pPr>
              <a:lnSpc>
                <a:spcPct val="115000"/>
              </a:lnSpc>
            </a:pPr>
            <a:r>
              <a:rPr sz="1500" b="0" i="0">
                <a:solidFill>
                  <a:srgbClr val="CBBBA8"/>
                </a:solidFill>
                <a:latin typeface="Calibri"/>
              </a:rPr>
              <a:t>Profesionales de Salud, Economía, Comunicación e Ingeniería.</a:t>
            </a:r>
          </a:p>
        </p:txBody>
      </p:sp>
      <p:sp>
        <p:nvSpPr>
          <p:cNvPr id="9" name="Oval 8"/>
          <p:cNvSpPr/>
          <p:nvPr/>
        </p:nvSpPr>
        <p:spPr>
          <a:xfrm>
            <a:off x="640080" y="5020056"/>
            <a:ext cx="502920" cy="502920"/>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700" b="1" i="0">
                <a:solidFill>
                  <a:srgbClr val="241911"/>
                </a:solidFill>
                <a:latin typeface="Cambria"/>
              </a:rPr>
              <a:t>03</a:t>
            </a:r>
          </a:p>
        </p:txBody>
      </p:sp>
      <p:sp>
        <p:nvSpPr>
          <p:cNvPr id="10" name="TextBox 9"/>
          <p:cNvSpPr txBox="1"/>
          <p:nvPr/>
        </p:nvSpPr>
        <p:spPr>
          <a:xfrm>
            <a:off x="1435608" y="4992624"/>
            <a:ext cx="10116007" cy="1207008"/>
          </a:xfrm>
          <a:prstGeom prst="rect">
            <a:avLst/>
          </a:prstGeom>
          <a:noFill/>
        </p:spPr>
        <p:txBody>
          <a:bodyPr wrap="square" lIns="0" tIns="0" rIns="0" bIns="0" anchor="t">
            <a:spAutoFit/>
          </a:bodyPr>
          <a:lstStyle/>
          <a:p>
            <a:pPr>
              <a:spcAft>
                <a:spcPts val="300"/>
              </a:spcAft>
            </a:pPr>
            <a:r>
              <a:rPr sz="1450" b="1" i="0">
                <a:solidFill>
                  <a:srgbClr val="C1592F"/>
                </a:solidFill>
                <a:latin typeface="Calibri"/>
              </a:rPr>
              <a:t>Conexión</a:t>
            </a:r>
          </a:p>
          <a:p>
            <a:pPr>
              <a:lnSpc>
                <a:spcPct val="115000"/>
              </a:lnSpc>
            </a:pPr>
            <a:r>
              <a:rPr sz="1500" b="0" i="0">
                <a:solidFill>
                  <a:srgbClr val="CBBBA8"/>
                </a:solidFill>
                <a:latin typeface="Calibri"/>
              </a:rPr>
              <a:t>Convierte el dataset validado en el Módulo 4 en insumos concretos para la Ingeniería de Características (Módulo 6).</a:t>
            </a:r>
          </a:p>
        </p:txBody>
      </p:sp>
      <p:sp>
        <p:nvSpPr>
          <p:cNvPr id="11" name="TextBox 10"/>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CBBBA8"/>
                </a:solidFill>
                <a:latin typeface="Calibri"/>
              </a:rPr>
              <a:t>Presentación 3 · Análisis de Datos Exploratorio (EDA)</a:t>
            </a:r>
          </a:p>
        </p:txBody>
      </p:sp>
      <p:sp>
        <p:nvSpPr>
          <p:cNvPr id="12" name="Oval 11"/>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9C4422"/>
                </a:solidFill>
                <a:latin typeface="Calibri"/>
              </a:rPr>
              <a:t>DEL RESUMEN ESTADÍSTICO A LA FORMULACIÓN DE HIPÓTESIS</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3D2B1E"/>
                </a:solidFill>
                <a:latin typeface="Cambria"/>
              </a:rPr>
              <a:t>Propósito del EDA</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6B5F4E"/>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02</a:t>
            </a:r>
          </a:p>
        </p:txBody>
      </p:sp>
      <p:sp>
        <p:nvSpPr>
          <p:cNvPr id="7" name="TextBox 6"/>
          <p:cNvSpPr txBox="1"/>
          <p:nvPr/>
        </p:nvSpPr>
        <p:spPr>
          <a:xfrm>
            <a:off x="640080" y="1874519"/>
            <a:ext cx="10911535" cy="3840480"/>
          </a:xfrm>
          <a:prstGeom prst="rect">
            <a:avLst/>
          </a:prstGeom>
          <a:noFill/>
        </p:spPr>
        <p:txBody>
          <a:bodyPr wrap="square" lIns="0" tIns="0" rIns="0" bIns="0" anchor="t">
            <a:spAutoFit/>
          </a:bodyPr>
          <a:lstStyle/>
          <a:p>
            <a:pPr>
              <a:lnSpc>
                <a:spcPct val="120000"/>
              </a:lnSpc>
              <a:spcAft>
                <a:spcPts val="2000"/>
              </a:spcAft>
            </a:pPr>
            <a:r>
              <a:rPr sz="1700" b="1" i="0">
                <a:solidFill>
                  <a:srgbClr val="9C4422"/>
                </a:solidFill>
                <a:latin typeface="Calibri"/>
              </a:rPr>
              <a:t>▸  </a:t>
            </a:r>
            <a:r>
              <a:rPr sz="1700" b="1" i="0">
                <a:solidFill>
                  <a:srgbClr val="3D2B1E"/>
                </a:solidFill>
                <a:latin typeface="Calibri"/>
              </a:rPr>
              <a:t>El EDA no busca confirmar lo que ya se sabe, </a:t>
            </a:r>
            <a:r>
              <a:rPr sz="1700" b="0" i="0">
                <a:solidFill>
                  <a:srgbClr val="3D2B1E"/>
                </a:solidFill>
                <a:latin typeface="Calibri"/>
              </a:rPr>
              <a:t> sino descubrir lo que el dataset esconde: patrones, anomalías, relaciones inesperadas.</a:t>
            </a:r>
          </a:p>
          <a:p>
            <a:pPr>
              <a:lnSpc>
                <a:spcPct val="120000"/>
              </a:lnSpc>
              <a:spcAft>
                <a:spcPts val="2000"/>
              </a:spcAft>
            </a:pPr>
            <a:r>
              <a:rPr sz="1700" b="1" i="0">
                <a:solidFill>
                  <a:srgbClr val="9C4422"/>
                </a:solidFill>
                <a:latin typeface="Calibri"/>
              </a:rPr>
              <a:t>▸  </a:t>
            </a:r>
            <a:r>
              <a:rPr sz="1700" b="1" i="0">
                <a:solidFill>
                  <a:srgbClr val="3D2B1E"/>
                </a:solidFill>
                <a:latin typeface="Calibri"/>
              </a:rPr>
              <a:t>Es visualización exploratoria, no explicativa: </a:t>
            </a:r>
            <a:r>
              <a:rPr sz="1700" b="0" i="0">
                <a:solidFill>
                  <a:srgbClr val="3D2B1E"/>
                </a:solidFill>
                <a:latin typeface="Calibri"/>
              </a:rPr>
              <a:t> el destinatario es el propio analista, no un comité directivo.</a:t>
            </a:r>
          </a:p>
          <a:p>
            <a:pPr>
              <a:lnSpc>
                <a:spcPct val="120000"/>
              </a:lnSpc>
              <a:spcAft>
                <a:spcPts val="2000"/>
              </a:spcAft>
            </a:pPr>
            <a:r>
              <a:rPr sz="1700" b="1" i="0">
                <a:solidFill>
                  <a:srgbClr val="9C4422"/>
                </a:solidFill>
                <a:latin typeface="Calibri"/>
              </a:rPr>
              <a:t>▸  </a:t>
            </a:r>
            <a:r>
              <a:rPr sz="1700" b="1" i="0">
                <a:solidFill>
                  <a:srgbClr val="3D2B1E"/>
                </a:solidFill>
                <a:latin typeface="Calibri"/>
              </a:rPr>
              <a:t>Toda decisión de modelamiento posterior </a:t>
            </a:r>
            <a:r>
              <a:rPr sz="1700" b="0" i="0">
                <a:solidFill>
                  <a:srgbClr val="3D2B1E"/>
                </a:solidFill>
                <a:latin typeface="Calibri"/>
              </a:rPr>
              <a:t> (qué imputar, qué escalar, qué codificar) se justifica con evidencia recolectada aquí.</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9C4422"/>
                </a:solidFill>
                <a:latin typeface="Calibri"/>
              </a:rPr>
              <a:t>TENDENCIA CENTRAL, DISPERSIÓN Y OUTLIERS — SALIDA REAL DE 2_EDA.IPYNB</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3D2B1E"/>
                </a:solidFill>
                <a:latin typeface="Cambria"/>
              </a:rPr>
              <a:t>Análisis univariado de variables continuas</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6B5F4E"/>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03</a:t>
            </a:r>
          </a:p>
        </p:txBody>
      </p:sp>
      <p:sp>
        <p:nvSpPr>
          <p:cNvPr id="7" name="Rounded Rectangle 6"/>
          <p:cNvSpPr/>
          <p:nvPr/>
        </p:nvSpPr>
        <p:spPr>
          <a:xfrm>
            <a:off x="3679374" y="1783080"/>
            <a:ext cx="4832946" cy="3840480"/>
          </a:xfrm>
          <a:prstGeom prst="roundRect">
            <a:avLst>
              <a:gd name="adj" fmla="val 6000"/>
            </a:avLst>
          </a:prstGeom>
          <a:solidFill>
            <a:srgbClr val="FBF8F2"/>
          </a:solidFill>
          <a:ln>
            <a:noFill/>
          </a:ln>
          <a:effectLst>
            <a:outerShdw blurRad="91440" dist="45720" dir="5400000" rotWithShape="0">
              <a:srgbClr val="3D2B1E">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2_EDA_img02.png"/>
          <p:cNvPicPr>
            <a:picLocks noChangeAspect="1"/>
          </p:cNvPicPr>
          <p:nvPr/>
        </p:nvPicPr>
        <p:blipFill>
          <a:blip r:embed="rId2"/>
          <a:stretch>
            <a:fillRect/>
          </a:stretch>
        </p:blipFill>
        <p:spPr>
          <a:xfrm>
            <a:off x="3825678" y="1929384"/>
            <a:ext cx="4540338" cy="3547872"/>
          </a:xfrm>
          <a:prstGeom prst="rect">
            <a:avLst/>
          </a:prstGeom>
        </p:spPr>
      </p:pic>
      <p:sp>
        <p:nvSpPr>
          <p:cNvPr id="9" name="TextBox 8"/>
          <p:cNvSpPr txBox="1"/>
          <p:nvPr/>
        </p:nvSpPr>
        <p:spPr>
          <a:xfrm>
            <a:off x="640080" y="5715000"/>
            <a:ext cx="10911535" cy="1188720"/>
          </a:xfrm>
          <a:prstGeom prst="rect">
            <a:avLst/>
          </a:prstGeom>
          <a:noFill/>
        </p:spPr>
        <p:txBody>
          <a:bodyPr wrap="square" lIns="0" tIns="0" rIns="0" bIns="0" anchor="t">
            <a:spAutoFit/>
          </a:bodyPr>
          <a:lstStyle/>
          <a:p>
            <a:pPr>
              <a:lnSpc>
                <a:spcPct val="120000"/>
              </a:lnSpc>
            </a:pPr>
            <a:r>
              <a:rPr sz="1300" b="0" i="1">
                <a:solidFill>
                  <a:srgbClr val="6B5F4E"/>
                </a:solidFill>
                <a:latin typeface="Calibri"/>
              </a:rPr>
              <a:t>El histograma real muestra dos picos: muchos clientes muy nuevos (tenure bajo, mayor riesgo de fuga) y otro grupo con permanencia máxima (~72 meses) — la mediana (29) por debajo de la media confirma esa concentración inicial.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9C4422"/>
                </a:solidFill>
                <a:latin typeface="Calibri"/>
              </a:rPr>
              <a:t>TABLAS DE FRECUENCIA Y DISTRIBUCIONES PROPORCIONALES</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3D2B1E"/>
                </a:solidFill>
                <a:latin typeface="Cambria"/>
              </a:rPr>
              <a:t>Análisis univariado de categorías</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6B5F4E"/>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04</a:t>
            </a:r>
          </a:p>
        </p:txBody>
      </p:sp>
      <p:sp>
        <p:nvSpPr>
          <p:cNvPr id="7" name="Rounded Rectangle 6"/>
          <p:cNvSpPr/>
          <p:nvPr/>
        </p:nvSpPr>
        <p:spPr>
          <a:xfrm>
            <a:off x="640080" y="1783080"/>
            <a:ext cx="10911535" cy="1188720"/>
          </a:xfrm>
          <a:prstGeom prst="roundRect">
            <a:avLst>
              <a:gd name="adj" fmla="val 4500"/>
            </a:avLst>
          </a:prstGeom>
          <a:solidFill>
            <a:srgbClr val="1C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04672" y="1929384"/>
            <a:ext cx="82296" cy="82296"/>
          </a:xfrm>
          <a:prstGeom prst="ellipse">
            <a:avLst/>
          </a:prstGeom>
          <a:solidFill>
            <a:srgbClr val="E06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50976" y="1929384"/>
            <a:ext cx="82296" cy="822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97280" y="1929384"/>
            <a:ext cx="82296" cy="82296"/>
          </a:xfrm>
          <a:prstGeom prst="ellipse">
            <a:avLst/>
          </a:prstGeom>
          <a:solidFill>
            <a:srgbClr val="5BB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911096"/>
            <a:ext cx="10637215" cy="201168"/>
          </a:xfrm>
          <a:prstGeom prst="rect">
            <a:avLst/>
          </a:prstGeom>
          <a:noFill/>
        </p:spPr>
        <p:txBody>
          <a:bodyPr wrap="none" lIns="0" tIns="0" rIns="0" bIns="0" anchor="t">
            <a:spAutoFit/>
          </a:bodyPr>
          <a:lstStyle/>
          <a:p>
            <a:pPr algn="r"/>
            <a:r>
              <a:rPr sz="1050" b="0" i="1">
                <a:solidFill>
                  <a:srgbClr val="CBBBA8"/>
                </a:solidFill>
                <a:latin typeface="Calibri"/>
              </a:rPr>
              <a:t>2_EDA.ipynb</a:t>
            </a:r>
          </a:p>
        </p:txBody>
      </p:sp>
      <p:sp>
        <p:nvSpPr>
          <p:cNvPr id="12" name="TextBox 11"/>
          <p:cNvSpPr txBox="1"/>
          <p:nvPr/>
        </p:nvSpPr>
        <p:spPr>
          <a:xfrm>
            <a:off x="877824" y="2148840"/>
            <a:ext cx="10436047" cy="676656"/>
          </a:xfrm>
          <a:prstGeom prst="rect">
            <a:avLst/>
          </a:prstGeom>
          <a:noFill/>
        </p:spPr>
        <p:txBody>
          <a:bodyPr wrap="square" lIns="0" tIns="0" rIns="0" bIns="0" anchor="t">
            <a:spAutoFit/>
          </a:bodyPr>
          <a:lstStyle/>
          <a:p>
            <a:pPr>
              <a:spcAft>
                <a:spcPts val="400"/>
              </a:spcAft>
            </a:pPr>
            <a:r>
              <a:rPr sz="1400" b="0" i="0">
                <a:solidFill>
                  <a:srgbClr val="F3ECE2"/>
                </a:solidFill>
                <a:latin typeface="Courier New"/>
              </a:rPr>
              <a:t>df['Contract'].value_counts(normalize=True) * 100</a:t>
            </a:r>
          </a:p>
        </p:txBody>
      </p:sp>
      <p:sp>
        <p:nvSpPr>
          <p:cNvPr id="13" name="TextBox 12"/>
          <p:cNvSpPr txBox="1"/>
          <p:nvPr/>
        </p:nvSpPr>
        <p:spPr>
          <a:xfrm>
            <a:off x="640080" y="3291840"/>
            <a:ext cx="10911535" cy="3017520"/>
          </a:xfrm>
          <a:prstGeom prst="rect">
            <a:avLst/>
          </a:prstGeom>
          <a:noFill/>
        </p:spPr>
        <p:txBody>
          <a:bodyPr wrap="square" lIns="0" tIns="0" rIns="0" bIns="0" anchor="t">
            <a:spAutoFit/>
          </a:bodyPr>
          <a:lstStyle/>
          <a:p>
            <a:pPr>
              <a:lnSpc>
                <a:spcPct val="115000"/>
              </a:lnSpc>
              <a:spcAft>
                <a:spcPts val="1400"/>
              </a:spcAft>
            </a:pPr>
            <a:r>
              <a:rPr sz="1500" b="1" i="0">
                <a:solidFill>
                  <a:srgbClr val="9C4422"/>
                </a:solidFill>
                <a:latin typeface="Calibri"/>
              </a:rPr>
              <a:t>▸  </a:t>
            </a:r>
            <a:r>
              <a:rPr sz="1500" b="1" i="0">
                <a:solidFill>
                  <a:srgbClr val="3D2B1E"/>
                </a:solidFill>
                <a:latin typeface="Calibri"/>
              </a:rPr>
              <a:t>Aplica a variables como </a:t>
            </a:r>
            <a:r>
              <a:rPr sz="1500" b="0" i="0">
                <a:solidFill>
                  <a:srgbClr val="3D2B1E"/>
                </a:solidFill>
                <a:latin typeface="Calibri"/>
              </a:rPr>
              <a:t> Contract, InternetService, PaymentMethod.</a:t>
            </a:r>
          </a:p>
          <a:p>
            <a:pPr>
              <a:lnSpc>
                <a:spcPct val="115000"/>
              </a:lnSpc>
              <a:spcAft>
                <a:spcPts val="1400"/>
              </a:spcAft>
            </a:pPr>
            <a:r>
              <a:rPr sz="1500" b="1" i="0">
                <a:solidFill>
                  <a:srgbClr val="9C4422"/>
                </a:solidFill>
                <a:latin typeface="Calibri"/>
              </a:rPr>
              <a:t>▸  </a:t>
            </a:r>
            <a:r>
              <a:rPr sz="1500" b="1" i="0">
                <a:solidFill>
                  <a:srgbClr val="3D2B1E"/>
                </a:solidFill>
                <a:latin typeface="Calibri"/>
              </a:rPr>
              <a:t>Una tabla de frecuencias </a:t>
            </a:r>
            <a:r>
              <a:rPr sz="1500" b="0" i="0">
                <a:solidFill>
                  <a:srgbClr val="3D2B1E"/>
                </a:solidFill>
                <a:latin typeface="Calibri"/>
              </a:rPr>
              <a:t> revela desbalances dentro de las propias variables predictoras — no solo en la variable objetivo.</a:t>
            </a:r>
          </a:p>
          <a:p>
            <a:pPr>
              <a:lnSpc>
                <a:spcPct val="115000"/>
              </a:lnSpc>
              <a:spcAft>
                <a:spcPts val="1400"/>
              </a:spcAft>
            </a:pPr>
            <a:r>
              <a:rPr sz="1500" b="1" i="0">
                <a:solidFill>
                  <a:srgbClr val="9C4422"/>
                </a:solidFill>
                <a:latin typeface="Calibri"/>
              </a:rPr>
              <a:t>▸  </a:t>
            </a:r>
            <a:r>
              <a:rPr sz="1500" b="1" i="0">
                <a:solidFill>
                  <a:srgbClr val="3D2B1E"/>
                </a:solidFill>
                <a:latin typeface="Calibri"/>
              </a:rPr>
              <a:t>Regla práctica: </a:t>
            </a:r>
            <a:r>
              <a:rPr sz="1500" b="0" i="0">
                <a:solidFill>
                  <a:srgbClr val="3D2B1E"/>
                </a:solidFill>
                <a:latin typeface="Calibri"/>
              </a:rPr>
              <a:t> toda categórica con una clase que supere el 90% de los registros aporta poca capacidad discriminativa al modelo.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9C4422"/>
                </a:solidFill>
                <a:latin typeface="Calibri"/>
              </a:rPr>
              <a:t>DIAGNÓSTICO DE LA TASA DE CHURN</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3D2B1E"/>
                </a:solidFill>
                <a:latin typeface="Cambria"/>
              </a:rPr>
              <a:t>El desbalance de la variable objetivo</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6B5F4E"/>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05</a:t>
            </a:r>
          </a:p>
        </p:txBody>
      </p:sp>
      <p:graphicFrame>
        <p:nvGraphicFramePr>
          <p:cNvPr id="7" name="Table 6"/>
          <p:cNvGraphicFramePr>
            <a:graphicFrameLocks noGrp="1"/>
          </p:cNvGraphicFramePr>
          <p:nvPr/>
        </p:nvGraphicFramePr>
        <p:xfrm>
          <a:off x="640080" y="1965960"/>
          <a:ext cx="10911534" cy="1700784"/>
        </p:xfrm>
        <a:graphic>
          <a:graphicData uri="http://schemas.openxmlformats.org/drawingml/2006/table">
            <a:tbl>
              <a:tblPr>
                <a:tableStyleId>{5C22544A-7EE6-4342-B048-85BDC9FD1C3A}</a:tableStyleId>
              </a:tblPr>
              <a:tblGrid>
                <a:gridCol w="5455767">
                  <a:extLst>
                    <a:ext uri="{9D8B030D-6E8A-4147-A177-3AD203B41FA5}">
                      <a16:colId xmlns:a16="http://schemas.microsoft.com/office/drawing/2014/main" val="20000"/>
                    </a:ext>
                  </a:extLst>
                </a:gridCol>
                <a:gridCol w="5455767">
                  <a:extLst>
                    <a:ext uri="{9D8B030D-6E8A-4147-A177-3AD203B41FA5}">
                      <a16:colId xmlns:a16="http://schemas.microsoft.com/office/drawing/2014/main" val="20001"/>
                    </a:ext>
                  </a:extLst>
                </a:gridCol>
              </a:tblGrid>
              <a:tr h="566928">
                <a:tc>
                  <a:txBody>
                    <a:bodyPr/>
                    <a:lstStyle/>
                    <a:p>
                      <a:r>
                        <a:rPr sz="1400" b="1" i="0">
                          <a:solidFill>
                            <a:srgbClr val="FFFFFF"/>
                          </a:solidFill>
                          <a:latin typeface="Calibri"/>
                        </a:rPr>
                        <a:t>Clase</a:t>
                      </a:r>
                    </a:p>
                  </a:txBody>
                  <a:tcPr marL="109728" marR="109728" marT="54864" marB="54864" anchor="ctr">
                    <a:solidFill>
                      <a:srgbClr val="3D2B1E"/>
                    </a:solidFill>
                  </a:tcPr>
                </a:tc>
                <a:tc>
                  <a:txBody>
                    <a:bodyPr/>
                    <a:lstStyle/>
                    <a:p>
                      <a:r>
                        <a:rPr sz="1400" b="1" i="0">
                          <a:solidFill>
                            <a:srgbClr val="FFFFFF"/>
                          </a:solidFill>
                          <a:latin typeface="Calibri"/>
                        </a:rPr>
                        <a:t>Proporción</a:t>
                      </a:r>
                    </a:p>
                  </a:txBody>
                  <a:tcPr marL="109728" marR="109728" marT="54864" marB="54864" anchor="ctr">
                    <a:solidFill>
                      <a:srgbClr val="3D2B1E"/>
                    </a:solidFill>
                  </a:tcPr>
                </a:tc>
                <a:extLst>
                  <a:ext uri="{0D108BD9-81ED-4DB2-BD59-A6C34878D82A}">
                    <a16:rowId xmlns:a16="http://schemas.microsoft.com/office/drawing/2014/main" val="10000"/>
                  </a:ext>
                </a:extLst>
              </a:tr>
              <a:tr h="566928">
                <a:tc>
                  <a:txBody>
                    <a:bodyPr/>
                    <a:lstStyle/>
                    <a:p>
                      <a:r>
                        <a:rPr sz="1350" b="1" i="0">
                          <a:solidFill>
                            <a:srgbClr val="3D2B1E"/>
                          </a:solidFill>
                          <a:latin typeface="Calibri"/>
                        </a:rPr>
                        <a:t>No Churn</a:t>
                      </a:r>
                    </a:p>
                  </a:txBody>
                  <a:tcPr marL="109728" marR="109728" marT="54864" marB="54864" anchor="ctr">
                    <a:solidFill>
                      <a:srgbClr val="FBF8F2"/>
                    </a:solidFill>
                  </a:tcPr>
                </a:tc>
                <a:tc>
                  <a:txBody>
                    <a:bodyPr/>
                    <a:lstStyle/>
                    <a:p>
                      <a:r>
                        <a:rPr sz="1350" b="0" i="0">
                          <a:solidFill>
                            <a:srgbClr val="6B5F4E"/>
                          </a:solidFill>
                          <a:latin typeface="Calibri"/>
                        </a:rPr>
                        <a:t>73.5%</a:t>
                      </a:r>
                    </a:p>
                  </a:txBody>
                  <a:tcPr marL="109728" marR="109728" marT="54864" marB="54864" anchor="ctr">
                    <a:solidFill>
                      <a:srgbClr val="FBF8F2"/>
                    </a:solidFill>
                  </a:tcPr>
                </a:tc>
                <a:extLst>
                  <a:ext uri="{0D108BD9-81ED-4DB2-BD59-A6C34878D82A}">
                    <a16:rowId xmlns:a16="http://schemas.microsoft.com/office/drawing/2014/main" val="10001"/>
                  </a:ext>
                </a:extLst>
              </a:tr>
              <a:tr h="566928">
                <a:tc>
                  <a:txBody>
                    <a:bodyPr/>
                    <a:lstStyle/>
                    <a:p>
                      <a:r>
                        <a:rPr sz="1350" b="1" i="0">
                          <a:solidFill>
                            <a:srgbClr val="3D2B1E"/>
                          </a:solidFill>
                          <a:latin typeface="Calibri"/>
                        </a:rPr>
                        <a:t>Churn</a:t>
                      </a:r>
                    </a:p>
                  </a:txBody>
                  <a:tcPr marL="109728" marR="109728" marT="54864" marB="54864" anchor="ctr">
                    <a:solidFill>
                      <a:srgbClr val="F5EFE4"/>
                    </a:solidFill>
                  </a:tcPr>
                </a:tc>
                <a:tc>
                  <a:txBody>
                    <a:bodyPr/>
                    <a:lstStyle/>
                    <a:p>
                      <a:r>
                        <a:rPr sz="1350" b="0" i="0">
                          <a:solidFill>
                            <a:srgbClr val="6B5F4E"/>
                          </a:solidFill>
                          <a:latin typeface="Calibri"/>
                        </a:rPr>
                        <a:t>26.5%</a:t>
                      </a:r>
                    </a:p>
                  </a:txBody>
                  <a:tcPr marL="109728" marR="109728" marT="54864" marB="54864" anchor="ctr">
                    <a:solidFill>
                      <a:srgbClr val="F5EFE4"/>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640080" y="3986784"/>
            <a:ext cx="10911535" cy="1188720"/>
          </a:xfrm>
          <a:prstGeom prst="rect">
            <a:avLst/>
          </a:prstGeom>
          <a:noFill/>
        </p:spPr>
        <p:txBody>
          <a:bodyPr wrap="square" lIns="0" tIns="0" rIns="0" bIns="0" anchor="t">
            <a:spAutoFit/>
          </a:bodyPr>
          <a:lstStyle/>
          <a:p>
            <a:pPr>
              <a:lnSpc>
                <a:spcPct val="120000"/>
              </a:lnSpc>
            </a:pPr>
            <a:r>
              <a:rPr sz="1400" b="0" i="1">
                <a:solidFill>
                  <a:srgbClr val="6B5F4E"/>
                </a:solidFill>
                <a:latin typeface="Calibri"/>
              </a:rPr>
              <a:t>Relación aproximada de 2.7:1 — desbalance moderado, no extremo, pero suficiente para sesgar métricas como accuracy. Este hallazgo es el motivo directo de las técnicas de remuestreo (SMOTE, class weighting) que se abordarán en el Módulo 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9C4422"/>
                </a:solidFill>
                <a:latin typeface="Calibri"/>
              </a:rPr>
              <a:t>TIPO DE CONTRATO COMO PREDICTOR FUERTE DE CHURN — SALIDA REAL DE 2_EDA.IPYNB</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3D2B1E"/>
                </a:solidFill>
                <a:latin typeface="Cambria"/>
              </a:rPr>
              <a:t>Análisis bivariado: categoría vs. objetivo</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6B5F4E"/>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06</a:t>
            </a:r>
          </a:p>
        </p:txBody>
      </p:sp>
      <p:sp>
        <p:nvSpPr>
          <p:cNvPr id="7" name="Rounded Rectangle 6"/>
          <p:cNvSpPr/>
          <p:nvPr/>
        </p:nvSpPr>
        <p:spPr>
          <a:xfrm>
            <a:off x="3679374" y="1783080"/>
            <a:ext cx="4832946" cy="3840480"/>
          </a:xfrm>
          <a:prstGeom prst="roundRect">
            <a:avLst>
              <a:gd name="adj" fmla="val 6000"/>
            </a:avLst>
          </a:prstGeom>
          <a:solidFill>
            <a:srgbClr val="FBF8F2"/>
          </a:solidFill>
          <a:ln>
            <a:noFill/>
          </a:ln>
          <a:effectLst>
            <a:outerShdw blurRad="91440" dist="45720" dir="5400000" rotWithShape="0">
              <a:srgbClr val="3D2B1E">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2_EDA_img09.png"/>
          <p:cNvPicPr>
            <a:picLocks noChangeAspect="1"/>
          </p:cNvPicPr>
          <p:nvPr/>
        </p:nvPicPr>
        <p:blipFill>
          <a:blip r:embed="rId2"/>
          <a:stretch>
            <a:fillRect/>
          </a:stretch>
        </p:blipFill>
        <p:spPr>
          <a:xfrm>
            <a:off x="3825678" y="1929384"/>
            <a:ext cx="4540338" cy="3547872"/>
          </a:xfrm>
          <a:prstGeom prst="rect">
            <a:avLst/>
          </a:prstGeom>
        </p:spPr>
      </p:pic>
      <p:sp>
        <p:nvSpPr>
          <p:cNvPr id="9" name="TextBox 8"/>
          <p:cNvSpPr txBox="1"/>
          <p:nvPr/>
        </p:nvSpPr>
        <p:spPr>
          <a:xfrm>
            <a:off x="640080" y="5715000"/>
            <a:ext cx="10911535" cy="1188720"/>
          </a:xfrm>
          <a:prstGeom prst="rect">
            <a:avLst/>
          </a:prstGeom>
          <a:noFill/>
        </p:spPr>
        <p:txBody>
          <a:bodyPr wrap="square" lIns="0" tIns="0" rIns="0" bIns="0" anchor="t">
            <a:spAutoFit/>
          </a:bodyPr>
          <a:lstStyle/>
          <a:p>
            <a:pPr>
              <a:lnSpc>
                <a:spcPct val="120000"/>
              </a:lnSpc>
            </a:pPr>
            <a:r>
              <a:rPr sz="1300" b="0" i="1">
                <a:solidFill>
                  <a:srgbClr val="6B5F4E"/>
                </a:solidFill>
                <a:latin typeface="Calibri"/>
              </a:rPr>
              <a:t>El churn cae de forma casi lineal con el nivel de compromiso contractual (42.7% mes a mes vs. 2.8% a dos años) — patrón intuitivo, cuantificado aquí con evidencia real del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9C4422"/>
                </a:solidFill>
                <a:latin typeface="Calibri"/>
              </a:rPr>
              <a:t>TENURE Y MONTHLYCHARGES FRENTE AL CHURN — SALIDA REAL DE 2_EDA.IPYNB</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3D2B1E"/>
                </a:solidFill>
                <a:latin typeface="Cambria"/>
              </a:rPr>
              <a:t>Análisis bivariado: continuo vs. objetivo</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6B5F4E"/>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07</a:t>
            </a:r>
          </a:p>
        </p:txBody>
      </p:sp>
      <p:sp>
        <p:nvSpPr>
          <p:cNvPr id="7" name="Rounded Rectangle 6"/>
          <p:cNvSpPr/>
          <p:nvPr/>
        </p:nvSpPr>
        <p:spPr>
          <a:xfrm>
            <a:off x="3709607" y="1783080"/>
            <a:ext cx="4772481" cy="3840480"/>
          </a:xfrm>
          <a:prstGeom prst="roundRect">
            <a:avLst>
              <a:gd name="adj" fmla="val 6000"/>
            </a:avLst>
          </a:prstGeom>
          <a:solidFill>
            <a:srgbClr val="FBF8F2"/>
          </a:solidFill>
          <a:ln>
            <a:noFill/>
          </a:ln>
          <a:effectLst>
            <a:outerShdw blurRad="91440" dist="45720" dir="5400000" rotWithShape="0">
              <a:srgbClr val="3D2B1E">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2_EDA_img08.png"/>
          <p:cNvPicPr>
            <a:picLocks noChangeAspect="1"/>
          </p:cNvPicPr>
          <p:nvPr/>
        </p:nvPicPr>
        <p:blipFill>
          <a:blip r:embed="rId2"/>
          <a:stretch>
            <a:fillRect/>
          </a:stretch>
        </p:blipFill>
        <p:spPr>
          <a:xfrm>
            <a:off x="3855911" y="1929384"/>
            <a:ext cx="4479873" cy="3547872"/>
          </a:xfrm>
          <a:prstGeom prst="rect">
            <a:avLst/>
          </a:prstGeom>
        </p:spPr>
      </p:pic>
      <p:sp>
        <p:nvSpPr>
          <p:cNvPr id="9" name="TextBox 8"/>
          <p:cNvSpPr txBox="1"/>
          <p:nvPr/>
        </p:nvSpPr>
        <p:spPr>
          <a:xfrm>
            <a:off x="640080" y="5715000"/>
            <a:ext cx="10911535" cy="1188720"/>
          </a:xfrm>
          <a:prstGeom prst="rect">
            <a:avLst/>
          </a:prstGeom>
          <a:noFill/>
        </p:spPr>
        <p:txBody>
          <a:bodyPr wrap="square" lIns="0" tIns="0" rIns="0" bIns="0" anchor="t">
            <a:spAutoFit/>
          </a:bodyPr>
          <a:lstStyle/>
          <a:p>
            <a:pPr>
              <a:lnSpc>
                <a:spcPct val="120000"/>
              </a:lnSpc>
            </a:pPr>
            <a:r>
              <a:rPr sz="1300" b="0" i="1">
                <a:solidFill>
                  <a:srgbClr val="6B5F4E"/>
                </a:solidFill>
                <a:latin typeface="Calibri"/>
              </a:rPr>
              <a:t>Los puntos naranjas (Churn) se concentran en tenure bajo y cargos altos — el riesgo de fuga es mayor al inicio de la relación comercial, especialmente con contrato mes a 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9C4422"/>
                </a:solidFill>
                <a:latin typeface="Calibri"/>
              </a:rPr>
              <a:t>IDENTIFICACIÓN DE REDUNDANCIAS ESTADÍSTICAS — SALIDA REAL DE 2_EDA.IPYNB</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3D2B1E"/>
                </a:solidFill>
                <a:latin typeface="Cambria"/>
              </a:rPr>
              <a:t>Matriz de correlaciones y multicolinealidad</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6B5F4E"/>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08</a:t>
            </a:r>
          </a:p>
        </p:txBody>
      </p:sp>
      <p:sp>
        <p:nvSpPr>
          <p:cNvPr id="7" name="Rounded Rectangle 6"/>
          <p:cNvSpPr/>
          <p:nvPr/>
        </p:nvSpPr>
        <p:spPr>
          <a:xfrm>
            <a:off x="3849714" y="1783080"/>
            <a:ext cx="4492267" cy="3840480"/>
          </a:xfrm>
          <a:prstGeom prst="roundRect">
            <a:avLst>
              <a:gd name="adj" fmla="val 6000"/>
            </a:avLst>
          </a:prstGeom>
          <a:solidFill>
            <a:srgbClr val="FBF8F2"/>
          </a:solidFill>
          <a:ln>
            <a:noFill/>
          </a:ln>
          <a:effectLst>
            <a:outerShdw blurRad="91440" dist="45720" dir="5400000" rotWithShape="0">
              <a:srgbClr val="3D2B1E">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2_EDA_img12.png"/>
          <p:cNvPicPr>
            <a:picLocks noChangeAspect="1"/>
          </p:cNvPicPr>
          <p:nvPr/>
        </p:nvPicPr>
        <p:blipFill>
          <a:blip r:embed="rId2"/>
          <a:stretch>
            <a:fillRect/>
          </a:stretch>
        </p:blipFill>
        <p:spPr>
          <a:xfrm>
            <a:off x="3996018" y="1929384"/>
            <a:ext cx="4199659" cy="3547872"/>
          </a:xfrm>
          <a:prstGeom prst="rect">
            <a:avLst/>
          </a:prstGeom>
        </p:spPr>
      </p:pic>
      <p:sp>
        <p:nvSpPr>
          <p:cNvPr id="9" name="TextBox 8"/>
          <p:cNvSpPr txBox="1"/>
          <p:nvPr/>
        </p:nvSpPr>
        <p:spPr>
          <a:xfrm>
            <a:off x="640080" y="5715000"/>
            <a:ext cx="10911535" cy="1188720"/>
          </a:xfrm>
          <a:prstGeom prst="rect">
            <a:avLst/>
          </a:prstGeom>
          <a:noFill/>
        </p:spPr>
        <p:txBody>
          <a:bodyPr wrap="square" lIns="0" tIns="0" rIns="0" bIns="0" anchor="t">
            <a:spAutoFit/>
          </a:bodyPr>
          <a:lstStyle/>
          <a:p>
            <a:pPr>
              <a:lnSpc>
                <a:spcPct val="120000"/>
              </a:lnSpc>
            </a:pPr>
            <a:r>
              <a:rPr sz="1300" b="0" i="1">
                <a:solidFill>
                  <a:srgbClr val="6B5F4E"/>
                </a:solidFill>
                <a:latin typeface="Calibri"/>
              </a:rPr>
              <a:t>TotalCharges está correlacionado en 82.6% con tenure — candidato a redundancia. La multicolinealidad es crítica en regresión lineal/logística, poco relevante en árboles y ensambles (se retoma en el Módulo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9C4422"/>
                </a:solidFill>
                <a:latin typeface="Calibri"/>
              </a:rPr>
              <a:t>NULOS Y CARACTERES VACÍOS EN FACTURACIÓN</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3D2B1E"/>
                </a:solidFill>
                <a:latin typeface="Cambria"/>
              </a:rPr>
              <a:t>Identificación de anomalías</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6B5F4E"/>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09</a:t>
            </a:r>
          </a:p>
        </p:txBody>
      </p:sp>
      <p:sp>
        <p:nvSpPr>
          <p:cNvPr id="7" name="TextBox 6"/>
          <p:cNvSpPr txBox="1"/>
          <p:nvPr/>
        </p:nvSpPr>
        <p:spPr>
          <a:xfrm>
            <a:off x="640080" y="1874519"/>
            <a:ext cx="10911535" cy="3840480"/>
          </a:xfrm>
          <a:prstGeom prst="rect">
            <a:avLst/>
          </a:prstGeom>
          <a:noFill/>
        </p:spPr>
        <p:txBody>
          <a:bodyPr wrap="square" lIns="0" tIns="0" rIns="0" bIns="0" anchor="t">
            <a:spAutoFit/>
          </a:bodyPr>
          <a:lstStyle/>
          <a:p>
            <a:pPr>
              <a:lnSpc>
                <a:spcPct val="120000"/>
              </a:lnSpc>
              <a:spcAft>
                <a:spcPts val="2000"/>
              </a:spcAft>
            </a:pPr>
            <a:r>
              <a:rPr sz="1700" b="1" i="0">
                <a:solidFill>
                  <a:srgbClr val="9C4422"/>
                </a:solidFill>
                <a:latin typeface="Calibri"/>
              </a:rPr>
              <a:t>▸  </a:t>
            </a:r>
            <a:r>
              <a:rPr sz="1700" b="1" i="0">
                <a:solidFill>
                  <a:srgbClr val="3D2B1E"/>
                </a:solidFill>
                <a:latin typeface="Calibri"/>
              </a:rPr>
              <a:t>TotalCharges contiene 11 registros </a:t>
            </a:r>
            <a:r>
              <a:rPr sz="1700" b="0" i="0">
                <a:solidFill>
                  <a:srgbClr val="3D2B1E"/>
                </a:solidFill>
                <a:latin typeface="Calibri"/>
              </a:rPr>
              <a:t> con valor de cadena vacía (" ") en lugar de nulo explícito — por eso pandas la infiere como object y no como float.</a:t>
            </a:r>
          </a:p>
          <a:p>
            <a:pPr>
              <a:lnSpc>
                <a:spcPct val="120000"/>
              </a:lnSpc>
              <a:spcAft>
                <a:spcPts val="2000"/>
              </a:spcAft>
            </a:pPr>
            <a:r>
              <a:rPr sz="1700" b="1" i="0">
                <a:solidFill>
                  <a:srgbClr val="9C4422"/>
                </a:solidFill>
                <a:latin typeface="Calibri"/>
              </a:rPr>
              <a:t>▸  </a:t>
            </a:r>
            <a:r>
              <a:rPr sz="1700" b="1" i="0">
                <a:solidFill>
                  <a:srgbClr val="3D2B1E"/>
                </a:solidFill>
                <a:latin typeface="Calibri"/>
              </a:rPr>
              <a:t>Estos 11 casos corresponden exactamente </a:t>
            </a:r>
            <a:r>
              <a:rPr sz="1700" b="0" i="0">
                <a:solidFill>
                  <a:srgbClr val="3D2B1E"/>
                </a:solidFill>
                <a:latin typeface="Calibri"/>
              </a:rPr>
              <a:t> a clientes con tenure = 0 (clientes nuevos sin historial de facturación aún) — la anomalía tiene una explicación de negocio, no es un error aleatorio.</a:t>
            </a:r>
          </a:p>
          <a:p>
            <a:pPr>
              <a:lnSpc>
                <a:spcPct val="120000"/>
              </a:lnSpc>
              <a:spcAft>
                <a:spcPts val="2000"/>
              </a:spcAft>
            </a:pPr>
            <a:r>
              <a:rPr sz="1700" b="1" i="0">
                <a:solidFill>
                  <a:srgbClr val="9C4422"/>
                </a:solidFill>
                <a:latin typeface="Calibri"/>
              </a:rPr>
              <a:t>▸  </a:t>
            </a:r>
            <a:r>
              <a:rPr sz="1700" b="1" i="0">
                <a:solidFill>
                  <a:srgbClr val="3D2B1E"/>
                </a:solidFill>
                <a:latin typeface="Calibri"/>
              </a:rPr>
              <a:t>Lección clave: </a:t>
            </a:r>
            <a:r>
              <a:rPr sz="1700" b="0" i="0">
                <a:solidFill>
                  <a:srgbClr val="3D2B1E"/>
                </a:solidFill>
                <a:latin typeface="Calibri"/>
              </a:rPr>
              <a:t> un nulo “disfrazado” de texto es más peligroso que un nulo explícito, porque pasa desapercibido en una inspección superficial.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9C4422"/>
                </a:solidFill>
                <a:latin typeface="Calibri"/>
              </a:rPr>
              <a:t>SEABORN Y MATPLOTLIB COMO SOPORTE DE DECISIONES</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3D2B1E"/>
                </a:solidFill>
                <a:latin typeface="Cambria"/>
              </a:rPr>
              <a:t>Visualización dirigida</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6B5F4E"/>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10</a:t>
            </a:r>
          </a:p>
        </p:txBody>
      </p:sp>
      <p:sp>
        <p:nvSpPr>
          <p:cNvPr id="7" name="Rounded Rectangle 6"/>
          <p:cNvSpPr/>
          <p:nvPr/>
        </p:nvSpPr>
        <p:spPr>
          <a:xfrm>
            <a:off x="640080" y="1783080"/>
            <a:ext cx="10911535" cy="1554480"/>
          </a:xfrm>
          <a:prstGeom prst="roundRect">
            <a:avLst>
              <a:gd name="adj" fmla="val 4500"/>
            </a:avLst>
          </a:prstGeom>
          <a:solidFill>
            <a:srgbClr val="1C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04672" y="1929384"/>
            <a:ext cx="82296" cy="82296"/>
          </a:xfrm>
          <a:prstGeom prst="ellipse">
            <a:avLst/>
          </a:prstGeom>
          <a:solidFill>
            <a:srgbClr val="E06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50976" y="1929384"/>
            <a:ext cx="82296" cy="822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97280" y="1929384"/>
            <a:ext cx="82296" cy="82296"/>
          </a:xfrm>
          <a:prstGeom prst="ellipse">
            <a:avLst/>
          </a:prstGeom>
          <a:solidFill>
            <a:srgbClr val="5BB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911096"/>
            <a:ext cx="10637215" cy="201168"/>
          </a:xfrm>
          <a:prstGeom prst="rect">
            <a:avLst/>
          </a:prstGeom>
          <a:noFill/>
        </p:spPr>
        <p:txBody>
          <a:bodyPr wrap="none" lIns="0" tIns="0" rIns="0" bIns="0" anchor="t">
            <a:spAutoFit/>
          </a:bodyPr>
          <a:lstStyle/>
          <a:p>
            <a:pPr algn="r"/>
            <a:r>
              <a:rPr sz="1050" b="0" i="1">
                <a:solidFill>
                  <a:srgbClr val="CBBBA8"/>
                </a:solidFill>
                <a:latin typeface="Calibri"/>
              </a:rPr>
              <a:t>2_EDA.ipynb</a:t>
            </a:r>
          </a:p>
        </p:txBody>
      </p:sp>
      <p:sp>
        <p:nvSpPr>
          <p:cNvPr id="12" name="TextBox 11"/>
          <p:cNvSpPr txBox="1"/>
          <p:nvPr/>
        </p:nvSpPr>
        <p:spPr>
          <a:xfrm>
            <a:off x="877824" y="2148840"/>
            <a:ext cx="10436047" cy="1042416"/>
          </a:xfrm>
          <a:prstGeom prst="rect">
            <a:avLst/>
          </a:prstGeom>
          <a:noFill/>
        </p:spPr>
        <p:txBody>
          <a:bodyPr wrap="square" lIns="0" tIns="0" rIns="0" bIns="0" anchor="t">
            <a:spAutoFit/>
          </a:bodyPr>
          <a:lstStyle/>
          <a:p>
            <a:pPr>
              <a:spcAft>
                <a:spcPts val="400"/>
              </a:spcAft>
            </a:pPr>
            <a:r>
              <a:rPr sz="1400" b="0" i="0">
                <a:solidFill>
                  <a:srgbClr val="F3ECE2"/>
                </a:solidFill>
                <a:latin typeface="Courier New"/>
              </a:rPr>
              <a:t>import seaborn as sns</a:t>
            </a:r>
          </a:p>
          <a:p>
            <a:pPr>
              <a:spcAft>
                <a:spcPts val="400"/>
              </a:spcAft>
            </a:pPr>
            <a:r>
              <a:rPr sz="1400" b="0" i="0">
                <a:solidFill>
                  <a:srgbClr val="F3ECE2"/>
                </a:solidFill>
                <a:latin typeface="Courier New"/>
              </a:rPr>
              <a:t>sns.boxplot(data=df, x='Churn', y='MonthlyCharges')</a:t>
            </a:r>
          </a:p>
          <a:p>
            <a:pPr>
              <a:spcAft>
                <a:spcPts val="400"/>
              </a:spcAft>
            </a:pPr>
            <a:r>
              <a:rPr sz="1400" b="0" i="0">
                <a:solidFill>
                  <a:srgbClr val="F3ECE2"/>
                </a:solidFill>
                <a:latin typeface="Courier New"/>
              </a:rPr>
              <a:t>sns.countplot(data=df, x='Contract', hue='Churn')</a:t>
            </a:r>
          </a:p>
        </p:txBody>
      </p:sp>
      <p:sp>
        <p:nvSpPr>
          <p:cNvPr id="13" name="TextBox 12"/>
          <p:cNvSpPr txBox="1"/>
          <p:nvPr/>
        </p:nvSpPr>
        <p:spPr>
          <a:xfrm>
            <a:off x="640080" y="3657600"/>
            <a:ext cx="10911535" cy="2651760"/>
          </a:xfrm>
          <a:prstGeom prst="rect">
            <a:avLst/>
          </a:prstGeom>
          <a:noFill/>
        </p:spPr>
        <p:txBody>
          <a:bodyPr wrap="square" lIns="0" tIns="0" rIns="0" bIns="0" anchor="t">
            <a:spAutoFit/>
          </a:bodyPr>
          <a:lstStyle/>
          <a:p>
            <a:pPr>
              <a:lnSpc>
                <a:spcPct val="115000"/>
              </a:lnSpc>
              <a:spcAft>
                <a:spcPts val="1400"/>
              </a:spcAft>
            </a:pPr>
            <a:r>
              <a:rPr sz="1500" b="1" i="0">
                <a:solidFill>
                  <a:srgbClr val="9C4422"/>
                </a:solidFill>
                <a:latin typeface="Calibri"/>
              </a:rPr>
              <a:t>▸  </a:t>
            </a:r>
            <a:r>
              <a:rPr sz="1500" b="1" i="0">
                <a:solidFill>
                  <a:srgbClr val="3D2B1E"/>
                </a:solidFill>
                <a:latin typeface="Calibri"/>
              </a:rPr>
              <a:t>El EDA no necesita gráficos pulidos para comité — </a:t>
            </a:r>
            <a:r>
              <a:rPr sz="1500" b="0" i="0">
                <a:solidFill>
                  <a:srgbClr val="3D2B1E"/>
                </a:solidFill>
                <a:latin typeface="Calibri"/>
              </a:rPr>
              <a:t> necesita gráficos rápidos que respondan una pregunta a la vez.</a:t>
            </a:r>
          </a:p>
          <a:p>
            <a:pPr>
              <a:lnSpc>
                <a:spcPct val="115000"/>
              </a:lnSpc>
              <a:spcAft>
                <a:spcPts val="1400"/>
              </a:spcAft>
            </a:pPr>
            <a:r>
              <a:rPr sz="1500" b="1" i="0">
                <a:solidFill>
                  <a:srgbClr val="9C4422"/>
                </a:solidFill>
                <a:latin typeface="Calibri"/>
              </a:rPr>
              <a:t>▸  </a:t>
            </a:r>
            <a:r>
              <a:rPr sz="1500" b="1" i="0">
                <a:solidFill>
                  <a:srgbClr val="3D2B1E"/>
                </a:solidFill>
                <a:latin typeface="Calibri"/>
              </a:rPr>
              <a:t>Cada gráfico debe nacer de una pregunta concreta </a:t>
            </a:r>
            <a:r>
              <a:rPr sz="1500" b="0" i="0">
                <a:solidFill>
                  <a:srgbClr val="3D2B1E"/>
                </a:solidFill>
                <a:latin typeface="Calibri"/>
              </a:rPr>
              <a:t> ("¿el churn varía con el contrato?"), no generarse por generar visualizaciones.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9C4422"/>
                </a:solidFill>
                <a:latin typeface="Calibri"/>
              </a:rPr>
              <a:t>CÓMO REPORTAR LOS DESCUBRIMIENTOS A COMITÉS DIRECTIVOS O MÉDICOS</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3D2B1E"/>
                </a:solidFill>
                <a:latin typeface="Cambria"/>
              </a:rPr>
              <a:t>Hallazgos clave por sector</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6B5F4E"/>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11</a:t>
            </a:r>
          </a:p>
        </p:txBody>
      </p:sp>
      <p:graphicFrame>
        <p:nvGraphicFramePr>
          <p:cNvPr id="7" name="Table 6"/>
          <p:cNvGraphicFramePr>
            <a:graphicFrameLocks noGrp="1"/>
          </p:cNvGraphicFramePr>
          <p:nvPr/>
        </p:nvGraphicFramePr>
        <p:xfrm>
          <a:off x="640080" y="1965960"/>
          <a:ext cx="10911535" cy="2267712"/>
        </p:xfrm>
        <a:graphic>
          <a:graphicData uri="http://schemas.openxmlformats.org/drawingml/2006/table">
            <a:tbl>
              <a:tblPr>
                <a:tableStyleId>{5C22544A-7EE6-4342-B048-85BDC9FD1C3A}</a:tableStyleId>
              </a:tblPr>
              <a:tblGrid>
                <a:gridCol w="4364614">
                  <a:extLst>
                    <a:ext uri="{9D8B030D-6E8A-4147-A177-3AD203B41FA5}">
                      <a16:colId xmlns:a16="http://schemas.microsoft.com/office/drawing/2014/main" val="20000"/>
                    </a:ext>
                  </a:extLst>
                </a:gridCol>
                <a:gridCol w="6546921">
                  <a:extLst>
                    <a:ext uri="{9D8B030D-6E8A-4147-A177-3AD203B41FA5}">
                      <a16:colId xmlns:a16="http://schemas.microsoft.com/office/drawing/2014/main" val="20001"/>
                    </a:ext>
                  </a:extLst>
                </a:gridCol>
              </a:tblGrid>
              <a:tr h="566928">
                <a:tc>
                  <a:txBody>
                    <a:bodyPr/>
                    <a:lstStyle/>
                    <a:p>
                      <a:r>
                        <a:rPr sz="1400" b="1" i="0">
                          <a:solidFill>
                            <a:srgbClr val="FFFFFF"/>
                          </a:solidFill>
                          <a:latin typeface="Calibri"/>
                        </a:rPr>
                        <a:t>Hallazgo técnico</a:t>
                      </a:r>
                    </a:p>
                  </a:txBody>
                  <a:tcPr marL="109728" marR="109728" marT="54864" marB="54864" anchor="ctr">
                    <a:solidFill>
                      <a:srgbClr val="3D2B1E"/>
                    </a:solidFill>
                  </a:tcPr>
                </a:tc>
                <a:tc>
                  <a:txBody>
                    <a:bodyPr/>
                    <a:lstStyle/>
                    <a:p>
                      <a:r>
                        <a:rPr sz="1400" b="1" i="0">
                          <a:solidFill>
                            <a:srgbClr val="FFFFFF"/>
                          </a:solidFill>
                          <a:latin typeface="Calibri"/>
                        </a:rPr>
                        <a:t>Traducción ejecutiva</a:t>
                      </a:r>
                    </a:p>
                  </a:txBody>
                  <a:tcPr marL="109728" marR="109728" marT="54864" marB="54864" anchor="ctr">
                    <a:solidFill>
                      <a:srgbClr val="3D2B1E"/>
                    </a:solidFill>
                  </a:tcPr>
                </a:tc>
                <a:extLst>
                  <a:ext uri="{0D108BD9-81ED-4DB2-BD59-A6C34878D82A}">
                    <a16:rowId xmlns:a16="http://schemas.microsoft.com/office/drawing/2014/main" val="10000"/>
                  </a:ext>
                </a:extLst>
              </a:tr>
              <a:tr h="566928">
                <a:tc>
                  <a:txBody>
                    <a:bodyPr/>
                    <a:lstStyle/>
                    <a:p>
                      <a:r>
                        <a:rPr sz="1350" b="1" i="0">
                          <a:solidFill>
                            <a:srgbClr val="3D2B1E"/>
                          </a:solidFill>
                          <a:latin typeface="Calibri"/>
                        </a:rPr>
                        <a:t>Churn 42.7% en contrato mes a mes</a:t>
                      </a:r>
                    </a:p>
                  </a:txBody>
                  <a:tcPr marL="109728" marR="109728" marT="54864" marB="54864" anchor="ctr">
                    <a:solidFill>
                      <a:srgbClr val="FBF8F2"/>
                    </a:solidFill>
                  </a:tcPr>
                </a:tc>
                <a:tc>
                  <a:txBody>
                    <a:bodyPr/>
                    <a:lstStyle/>
                    <a:p>
                      <a:r>
                        <a:rPr sz="1350" b="0" i="0">
                          <a:solidFill>
                            <a:srgbClr val="6B5F4E"/>
                          </a:solidFill>
                          <a:latin typeface="Calibri"/>
                        </a:rPr>
                        <a:t>“El cliente sin permanencia contratada es 15× más propenso a irse que uno a 2 años”</a:t>
                      </a:r>
                    </a:p>
                  </a:txBody>
                  <a:tcPr marL="109728" marR="109728" marT="54864" marB="54864" anchor="ctr">
                    <a:solidFill>
                      <a:srgbClr val="FBF8F2"/>
                    </a:solidFill>
                  </a:tcPr>
                </a:tc>
                <a:extLst>
                  <a:ext uri="{0D108BD9-81ED-4DB2-BD59-A6C34878D82A}">
                    <a16:rowId xmlns:a16="http://schemas.microsoft.com/office/drawing/2014/main" val="10001"/>
                  </a:ext>
                </a:extLst>
              </a:tr>
              <a:tr h="566928">
                <a:tc>
                  <a:txBody>
                    <a:bodyPr/>
                    <a:lstStyle/>
                    <a:p>
                      <a:r>
                        <a:rPr sz="1350" b="1" i="0">
                          <a:solidFill>
                            <a:srgbClr val="3D2B1E"/>
                          </a:solidFill>
                          <a:latin typeface="Calibri"/>
                        </a:rPr>
                        <a:t>Riesgo concentrado en tenure bajo</a:t>
                      </a:r>
                    </a:p>
                  </a:txBody>
                  <a:tcPr marL="109728" marR="109728" marT="54864" marB="54864" anchor="ctr">
                    <a:solidFill>
                      <a:srgbClr val="F5EFE4"/>
                    </a:solidFill>
                  </a:tcPr>
                </a:tc>
                <a:tc>
                  <a:txBody>
                    <a:bodyPr/>
                    <a:lstStyle/>
                    <a:p>
                      <a:r>
                        <a:rPr sz="1350" b="0" i="0">
                          <a:solidFill>
                            <a:srgbClr val="6B5F4E"/>
                          </a:solidFill>
                          <a:latin typeface="Calibri"/>
                        </a:rPr>
                        <a:t>“El primer semestre es la ventana crítica de retención”</a:t>
                      </a:r>
                    </a:p>
                  </a:txBody>
                  <a:tcPr marL="109728" marR="109728" marT="54864" marB="54864" anchor="ctr">
                    <a:solidFill>
                      <a:srgbClr val="F5EFE4"/>
                    </a:solidFill>
                  </a:tcPr>
                </a:tc>
                <a:extLst>
                  <a:ext uri="{0D108BD9-81ED-4DB2-BD59-A6C34878D82A}">
                    <a16:rowId xmlns:a16="http://schemas.microsoft.com/office/drawing/2014/main" val="10002"/>
                  </a:ext>
                </a:extLst>
              </a:tr>
              <a:tr h="566928">
                <a:tc>
                  <a:txBody>
                    <a:bodyPr/>
                    <a:lstStyle/>
                    <a:p>
                      <a:r>
                        <a:rPr sz="1350" b="1" i="0">
                          <a:solidFill>
                            <a:srgbClr val="3D2B1E"/>
                          </a:solidFill>
                          <a:latin typeface="Calibri"/>
                        </a:rPr>
                        <a:t>11 registros con facturación vacía</a:t>
                      </a:r>
                    </a:p>
                  </a:txBody>
                  <a:tcPr marL="109728" marR="109728" marT="54864" marB="54864" anchor="ctr">
                    <a:solidFill>
                      <a:srgbClr val="FBF8F2"/>
                    </a:solidFill>
                  </a:tcPr>
                </a:tc>
                <a:tc>
                  <a:txBody>
                    <a:bodyPr/>
                    <a:lstStyle/>
                    <a:p>
                      <a:r>
                        <a:rPr sz="1350" b="0" i="0">
                          <a:solidFill>
                            <a:srgbClr val="6B5F4E"/>
                          </a:solidFill>
                          <a:latin typeface="Calibri"/>
                        </a:rPr>
                        <a:t>“Clientes nuevos aún no facturados — no requieren corrección, requieren regla de negocio”</a:t>
                      </a:r>
                    </a:p>
                  </a:txBody>
                  <a:tcPr marL="109728" marR="109728" marT="54864" marB="54864" anchor="ctr">
                    <a:solidFill>
                      <a:srgbClr val="FBF8F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19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911535" cy="292608"/>
          </a:xfrm>
          <a:prstGeom prst="rect">
            <a:avLst/>
          </a:prstGeom>
          <a:noFill/>
        </p:spPr>
        <p:txBody>
          <a:bodyPr wrap="square" lIns="0" tIns="0" rIns="0" bIns="0" anchor="t">
            <a:spAutoFit/>
          </a:bodyPr>
          <a:lstStyle/>
          <a:p>
            <a:r>
              <a:rPr sz="1250" b="1" i="0" spc="160">
                <a:solidFill>
                  <a:srgbClr val="C1592F"/>
                </a:solidFill>
                <a:latin typeface="Calibri"/>
              </a:rPr>
              <a:t>INSUMOS PARA LA FASE DE INGENIERÍA DE CARACTERÍSTICAS</a:t>
            </a:r>
          </a:p>
        </p:txBody>
      </p:sp>
      <p:sp>
        <p:nvSpPr>
          <p:cNvPr id="4" name="TextBox 3"/>
          <p:cNvSpPr txBox="1"/>
          <p:nvPr/>
        </p:nvSpPr>
        <p:spPr>
          <a:xfrm>
            <a:off x="640080" y="786384"/>
            <a:ext cx="10911535" cy="822960"/>
          </a:xfrm>
          <a:prstGeom prst="rect">
            <a:avLst/>
          </a:prstGeom>
          <a:noFill/>
        </p:spPr>
        <p:txBody>
          <a:bodyPr wrap="square" lIns="0" tIns="0" rIns="0" bIns="0" anchor="t">
            <a:spAutoFit/>
          </a:bodyPr>
          <a:lstStyle/>
          <a:p>
            <a:r>
              <a:rPr sz="3000" b="1" i="0">
                <a:solidFill>
                  <a:srgbClr val="FFFFFF"/>
                </a:solidFill>
                <a:latin typeface="Cambria"/>
              </a:rPr>
              <a:t>Conclusiones del EDA</a:t>
            </a:r>
          </a:p>
        </p:txBody>
      </p:sp>
      <p:sp>
        <p:nvSpPr>
          <p:cNvPr id="5" name="TextBox 4"/>
          <p:cNvSpPr txBox="1"/>
          <p:nvPr/>
        </p:nvSpPr>
        <p:spPr>
          <a:xfrm>
            <a:off x="640080" y="6473952"/>
            <a:ext cx="7772400" cy="274320"/>
          </a:xfrm>
          <a:prstGeom prst="rect">
            <a:avLst/>
          </a:prstGeom>
          <a:noFill/>
        </p:spPr>
        <p:txBody>
          <a:bodyPr wrap="square" lIns="0" tIns="0" rIns="0" bIns="0" anchor="t">
            <a:spAutoFit/>
          </a:bodyPr>
          <a:lstStyle/>
          <a:p>
            <a:r>
              <a:rPr sz="1000" b="0" i="1">
                <a:solidFill>
                  <a:srgbClr val="CBBBA8"/>
                </a:solidFill>
                <a:latin typeface="Calibri"/>
              </a:rPr>
              <a:t>Presentación 3 · Análisis de Datos Exploratorio (EDA)</a:t>
            </a:r>
          </a:p>
        </p:txBody>
      </p:sp>
      <p:sp>
        <p:nvSpPr>
          <p:cNvPr id="6" name="Oval 5"/>
          <p:cNvSpPr/>
          <p:nvPr/>
        </p:nvSpPr>
        <p:spPr>
          <a:xfrm>
            <a:off x="11240719" y="6419088"/>
            <a:ext cx="310896" cy="310896"/>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i="0">
                <a:solidFill>
                  <a:srgbClr val="241911"/>
                </a:solidFill>
                <a:latin typeface="Calibri"/>
              </a:rPr>
              <a:t>12</a:t>
            </a:r>
          </a:p>
        </p:txBody>
      </p:sp>
      <p:sp>
        <p:nvSpPr>
          <p:cNvPr id="7" name="Oval 6"/>
          <p:cNvSpPr/>
          <p:nvPr/>
        </p:nvSpPr>
        <p:spPr>
          <a:xfrm>
            <a:off x="640080" y="1965960"/>
            <a:ext cx="457200" cy="457200"/>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i="0">
                <a:solidFill>
                  <a:srgbClr val="241911"/>
                </a:solidFill>
                <a:latin typeface="Cambria"/>
              </a:rPr>
              <a:t>1</a:t>
            </a:r>
          </a:p>
        </p:txBody>
      </p:sp>
      <p:sp>
        <p:nvSpPr>
          <p:cNvPr id="8" name="TextBox 7"/>
          <p:cNvSpPr txBox="1"/>
          <p:nvPr/>
        </p:nvSpPr>
        <p:spPr>
          <a:xfrm>
            <a:off x="1371600" y="1965960"/>
            <a:ext cx="10180015" cy="685800"/>
          </a:xfrm>
          <a:prstGeom prst="rect">
            <a:avLst/>
          </a:prstGeom>
          <a:noFill/>
        </p:spPr>
        <p:txBody>
          <a:bodyPr wrap="square" lIns="0" tIns="0" rIns="0" bIns="0" anchor="ctr">
            <a:spAutoFit/>
          </a:bodyPr>
          <a:lstStyle/>
          <a:p>
            <a:pPr>
              <a:lnSpc>
                <a:spcPct val="110000"/>
              </a:lnSpc>
            </a:pPr>
            <a:r>
              <a:rPr sz="1600" b="0" i="0">
                <a:solidFill>
                  <a:srgbClr val="FFFFFF"/>
                </a:solidFill>
                <a:latin typeface="Calibri"/>
              </a:rPr>
              <a:t>Imputar o tratar los 11 registros de TotalCharges vacíos (asociados a tenure = 0).</a:t>
            </a:r>
          </a:p>
        </p:txBody>
      </p:sp>
      <p:sp>
        <p:nvSpPr>
          <p:cNvPr id="9" name="Oval 8"/>
          <p:cNvSpPr/>
          <p:nvPr/>
        </p:nvSpPr>
        <p:spPr>
          <a:xfrm>
            <a:off x="640080" y="2651760"/>
            <a:ext cx="457200" cy="457200"/>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i="0">
                <a:solidFill>
                  <a:srgbClr val="241911"/>
                </a:solidFill>
                <a:latin typeface="Cambria"/>
              </a:rPr>
              <a:t>2</a:t>
            </a:r>
          </a:p>
        </p:txBody>
      </p:sp>
      <p:sp>
        <p:nvSpPr>
          <p:cNvPr id="10" name="TextBox 9"/>
          <p:cNvSpPr txBox="1"/>
          <p:nvPr/>
        </p:nvSpPr>
        <p:spPr>
          <a:xfrm>
            <a:off x="1371600" y="2651760"/>
            <a:ext cx="10180015" cy="685800"/>
          </a:xfrm>
          <a:prstGeom prst="rect">
            <a:avLst/>
          </a:prstGeom>
          <a:noFill/>
        </p:spPr>
        <p:txBody>
          <a:bodyPr wrap="square" lIns="0" tIns="0" rIns="0" bIns="0" anchor="ctr">
            <a:spAutoFit/>
          </a:bodyPr>
          <a:lstStyle/>
          <a:p>
            <a:pPr>
              <a:lnSpc>
                <a:spcPct val="110000"/>
              </a:lnSpc>
            </a:pPr>
            <a:r>
              <a:rPr sz="1600" b="0" i="0">
                <a:solidFill>
                  <a:srgbClr val="FFFFFF"/>
                </a:solidFill>
                <a:latin typeface="Calibri"/>
              </a:rPr>
              <a:t>Evaluar eliminación o transformación de TotalCharges por redundancia con tenure × MonthlyCharges.</a:t>
            </a:r>
          </a:p>
        </p:txBody>
      </p:sp>
      <p:sp>
        <p:nvSpPr>
          <p:cNvPr id="11" name="Oval 10"/>
          <p:cNvSpPr/>
          <p:nvPr/>
        </p:nvSpPr>
        <p:spPr>
          <a:xfrm>
            <a:off x="640080" y="3337560"/>
            <a:ext cx="457200" cy="457200"/>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i="0">
                <a:solidFill>
                  <a:srgbClr val="241911"/>
                </a:solidFill>
                <a:latin typeface="Cambria"/>
              </a:rPr>
              <a:t>3</a:t>
            </a:r>
          </a:p>
        </p:txBody>
      </p:sp>
      <p:sp>
        <p:nvSpPr>
          <p:cNvPr id="12" name="TextBox 11"/>
          <p:cNvSpPr txBox="1"/>
          <p:nvPr/>
        </p:nvSpPr>
        <p:spPr>
          <a:xfrm>
            <a:off x="1371600" y="3337560"/>
            <a:ext cx="10180015" cy="685800"/>
          </a:xfrm>
          <a:prstGeom prst="rect">
            <a:avLst/>
          </a:prstGeom>
          <a:noFill/>
        </p:spPr>
        <p:txBody>
          <a:bodyPr wrap="square" lIns="0" tIns="0" rIns="0" bIns="0" anchor="ctr">
            <a:spAutoFit/>
          </a:bodyPr>
          <a:lstStyle/>
          <a:p>
            <a:pPr>
              <a:lnSpc>
                <a:spcPct val="110000"/>
              </a:lnSpc>
            </a:pPr>
            <a:r>
              <a:rPr sz="1600" b="0" i="0">
                <a:solidFill>
                  <a:srgbClr val="FFFFFF"/>
                </a:solidFill>
                <a:latin typeface="Calibri"/>
              </a:rPr>
              <a:t>Contemplar desbalance de clases (73.5% / 26.5%) para el modelamiento (Módulo 8).</a:t>
            </a:r>
          </a:p>
        </p:txBody>
      </p:sp>
      <p:sp>
        <p:nvSpPr>
          <p:cNvPr id="13" name="Oval 12"/>
          <p:cNvSpPr/>
          <p:nvPr/>
        </p:nvSpPr>
        <p:spPr>
          <a:xfrm>
            <a:off x="640080" y="4023360"/>
            <a:ext cx="457200" cy="457200"/>
          </a:xfrm>
          <a:prstGeom prst="ellipse">
            <a:avLst/>
          </a:prstGeom>
          <a:solidFill>
            <a:srgbClr val="C1592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i="0">
                <a:solidFill>
                  <a:srgbClr val="241911"/>
                </a:solidFill>
                <a:latin typeface="Cambria"/>
              </a:rPr>
              <a:t>4</a:t>
            </a:r>
          </a:p>
        </p:txBody>
      </p:sp>
      <p:sp>
        <p:nvSpPr>
          <p:cNvPr id="14" name="TextBox 13"/>
          <p:cNvSpPr txBox="1"/>
          <p:nvPr/>
        </p:nvSpPr>
        <p:spPr>
          <a:xfrm>
            <a:off x="1371600" y="4023360"/>
            <a:ext cx="10180015" cy="685800"/>
          </a:xfrm>
          <a:prstGeom prst="rect">
            <a:avLst/>
          </a:prstGeom>
          <a:noFill/>
        </p:spPr>
        <p:txBody>
          <a:bodyPr wrap="square" lIns="0" tIns="0" rIns="0" bIns="0" anchor="ctr">
            <a:spAutoFit/>
          </a:bodyPr>
          <a:lstStyle/>
          <a:p>
            <a:pPr>
              <a:lnSpc>
                <a:spcPct val="110000"/>
              </a:lnSpc>
            </a:pPr>
            <a:r>
              <a:rPr sz="1600" b="0" i="0">
                <a:solidFill>
                  <a:srgbClr val="FFFFFF"/>
                </a:solidFill>
                <a:latin typeface="Calibri"/>
              </a:rPr>
              <a:t>Codificar categóricas relevantes: Contract, InternetService, PaymentMethod.</a:t>
            </a:r>
          </a:p>
        </p:txBody>
      </p:sp>
      <p:sp>
        <p:nvSpPr>
          <p:cNvPr id="15" name="Rounded Rectangle 14"/>
          <p:cNvSpPr/>
          <p:nvPr/>
        </p:nvSpPr>
        <p:spPr>
          <a:xfrm>
            <a:off x="640080" y="4983480"/>
            <a:ext cx="10911535" cy="1005840"/>
          </a:xfrm>
          <a:prstGeom prst="roundRect">
            <a:avLst>
              <a:gd name="adj" fmla="val 10000"/>
            </a:avLst>
          </a:prstGeom>
          <a:solidFill>
            <a:srgbClr val="C1592F"/>
          </a:solidFill>
          <a:ln>
            <a:noFill/>
          </a:ln>
          <a:effectLst>
            <a:outerShdw blurRad="91440" dist="45720" dir="5400000" rotWithShape="0">
              <a:srgbClr val="3D2B1E">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4983480"/>
            <a:ext cx="10271455" cy="1005840"/>
          </a:xfrm>
          <a:prstGeom prst="rect">
            <a:avLst/>
          </a:prstGeom>
          <a:noFill/>
        </p:spPr>
        <p:txBody>
          <a:bodyPr wrap="square" lIns="0" tIns="0" rIns="0" bIns="0" anchor="ctr">
            <a:spAutoFit/>
          </a:bodyPr>
          <a:lstStyle/>
          <a:p>
            <a:r>
              <a:rPr sz="1500" b="1" i="0">
                <a:solidFill>
                  <a:srgbClr val="241911"/>
                </a:solidFill>
                <a:latin typeface="Calibri"/>
              </a:rPr>
              <a:t>Siguiente módulo: </a:t>
            </a:r>
            <a:r>
              <a:rPr sz="1700" b="0" i="1">
                <a:solidFill>
                  <a:srgbClr val="241911"/>
                </a:solidFill>
                <a:latin typeface="Calibri"/>
              </a:rPr>
              <a:t>Feature Engineering — de datos explorados a datos listos para modelar.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1050</Words>
  <Application>Microsoft Office PowerPoint</Application>
  <PresentationFormat>Panorámica</PresentationFormat>
  <Paragraphs>105</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Cambria</vt:lpstr>
      <vt:lpstr>Courier New</vt:lpstr>
      <vt:lpstr>Office Theme</vt:lpstr>
      <vt:lpstr>Analítica y modelamiento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Diego Herrera M.</cp:lastModifiedBy>
  <cp:revision>1</cp:revision>
  <dcterms:created xsi:type="dcterms:W3CDTF">2013-01-27T09:14:16Z</dcterms:created>
  <dcterms:modified xsi:type="dcterms:W3CDTF">2026-08-21T21:21:30Z</dcterms:modified>
  <cp:category/>
</cp:coreProperties>
</file>