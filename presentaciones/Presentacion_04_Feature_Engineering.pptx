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MÓDULO 6 · PRESENTACIÓN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Feature Engineering (Ingeniería de Características)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578608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Objetivo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Imputar valores faltantes, codificar variables categóricas, escalar características continuas y construir variables derivadas.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13048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3785616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Audiencia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Profesionales de Salud, Economía, Comunicación e Ingeniería.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020056"/>
            <a:ext cx="502920" cy="50292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 i="0">
                <a:solidFill>
                  <a:srgbClr val="241911"/>
                </a:solidFill>
                <a:latin typeface="Cambr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4992624"/>
            <a:ext cx="1011600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Conexión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CBBBA8"/>
                </a:solidFill>
                <a:latin typeface="Calibri"/>
              </a:rPr>
              <a:t>Transforma el dataset diagnosticado en el EDA (Módulo 5) en la matriz numérica lista para entrenar modelos (Módulo 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12" name="Oval 11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¿POR QUÉ LOS ALGORITMOS DE ML NECESITAN DATOS PREPARADOS?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El arte de transformar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Un algoritmo no interpreta texto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("Yes"/"No", "Month-to-month") ni tolera nulos — necesita una representación puramente numérica y completa.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Feature Engineering es el puente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entre el dato "legible para humanos" (Módulo 5) y el dato "operable por el algoritmo".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La calidad de esta fase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determina el techo de desempeño del modelo más que el algoritmo elegido — garbage in, garbage 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IMPUTACIÓN SIMPLE VS. ELIMINACIÓN INFORMADA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Tratamiento de valores faltantes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5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64614"/>
                <a:gridCol w="654692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Cuándo usarla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Eliminar registros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Proporción de nulos muy baja (ej. los 11 casos de TotalCharges)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Imputar con media/mediana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Variable continua, distribución sin outliers extremos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Imputar con moda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Variable categórica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Imputar con 0 (regla de negocio)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Cuando el nulo tiene significado explícito (cliente nuevo, tenure = 0)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12064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Sobre el caso identificado en el EDA: los 11 registros de TotalCharges vacío corresponden a tenure = 0 → la imputación correcta es TotalCharges = 0, no la media general.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CORRECCIÓN DE CADENAS DE TEXTO NUMÉRICAS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Conversión de tipos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32588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3_FeatureEngineering.ipynb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df['TotalCharges'] = pd.to_numeric(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    df['TotalCharges'].replace(' ', 0),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    errors='coerce'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8001" y="3246120"/>
            <a:ext cx="5375692" cy="288036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_FeatureEngineering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305" y="3392424"/>
            <a:ext cx="5083084" cy="25877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ONE-HOT ENCODING PARA CATEGORÍAS NOMINALES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Codificación categórica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225295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3_FeatureEngineering.ipynb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pd.get_dummies(df, columns=['Contract', 'PaymentMethod',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                             'InternetService'])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28415"/>
            <a:ext cx="10911535" cy="2980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Aplica a categorías sin orden intrínseco: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InternetService (DSL, Fiber optic, No), PaymentMethod, Contract.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Cada categoría se vuelve una columna binaria (0/1):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internetservice_dsl, contract_month-to-month, paymentmethod_electronic check.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Riesgo a controlar: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la "trampa de las variables dummy" en modelos lineales — se resuelve descartando una categoría de referencia.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ORDINAL ENCODING PARA DATOS CON JERARQUÍA INTRÍNSECA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Codificación categórica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5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64614"/>
                <a:gridCol w="654692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Codificación sugerida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Contract (si se trata como ordinal)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Mes a mes = 0, Un año = 1, Dos años = 2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SeniorCitizen, Partner, Dependents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Binaria directa (0/1) — ya son esencialmente ordinales/booleanas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86784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Decisión de diseño: en este dataset, Contract se codificó como dummy porque no se asumió una relación estrictamente lineal con el churn — decisión que debe justificarse, no darse por defecto.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STANDARDSCALER (Z-SCORE) VS. MINMAXSCALER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Escalamiento de variables continuas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/>
                <a:gridCol w="4364614"/>
                <a:gridCol w="32734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Fórmula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Rango resultante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StandardScaler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(x − media) / desviación estándar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Media 0, desviación 1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MinMaxScaler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(x − mín) / (máx − mín)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[0, 1]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86784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Sobre MonthlyCharges (media 64.76, desviación 30.09): StandardScaler es la opción estándar sin outliers extremos. MinMaxScaler es preferible cuando se requiere un rango acotado explícito (ej. redes neuronales, Módulo 11).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SENSIBILIDAD DE MODELOS DE DISTANCIA VS. ÁRBOLES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¿Cuándo escalar y cuándo no?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5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46921"/>
                <a:gridCol w="436461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Familia de modelos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¿Requiere escalamiento?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KNN, SVM, Regresión logística, Clustering (K-Means)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Sí — sensibles a la magnitud de las variables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Árboles de decisión, Random Forest, Gradient Boosting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No — las divisiones son invariantes a la escala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86784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Error común: escalar innecesariamente antes de un árbol no lo daña, pero omitir el escalamiento antes de KNN o K-Means (Módulo 10) sí distorsiona los resultados.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RATIOS Y COMBINACIONES DE 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Creación de variables derivadas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883664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3_FeatureEngineering.ipynb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F3ECE2"/>
                </a:solidFill>
                <a:latin typeface="Courier New"/>
              </a:rPr>
              <a:t>df['charge_per_tenure'] = df['TotalCharges'] / df['tenure'].replace(0, 1)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3ECE2"/>
                </a:solidFill>
                <a:latin typeface="Courier New"/>
              </a:rPr>
              <a:t>df['num_services'] = df[['OnlineSecurity','OnlineBackup',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3ECE2"/>
                </a:solidFill>
                <a:latin typeface="Courier New"/>
              </a:rPr>
              <a:t>                          'DeviceProtection','TechSupport',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F3ECE2"/>
                </a:solidFill>
                <a:latin typeface="Courier New"/>
              </a:rPr>
              <a:t>                          'StreamingTV','StreamingMovies']].eq('Yes').sum(axis=1)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11535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charge_per_tenure: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normaliza el gasto acumulado por el tiempo de permanencia — más comparable entre clientes nuevos y antiguos.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num_services: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condensa 6 variables binarias en un solo indicador de "profundidad de relación comercial".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Estas variables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suelen aportar más poder predictivo que las originales, porque encapsulan una interpretación de negocio explícita.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ALMACENAMIENTO DE TRANSFORMADORES EN MODELS/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Serialización del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1883664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3_FeatureEngineering.ipynb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import pickle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with open('models/scaler.pkl', 'wb') as f: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3ECE2"/>
                </a:solidFill>
                <a:latin typeface="Courier New"/>
              </a:rPr>
              <a:t>    pickle.dump(scaler, 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10911535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Un scaler o encoder entrenado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sobre los datos de entrenamiento debe guardarse y reutilizarse — nunca reajustarse sobre datos nuevos (data leakage).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Este mismo objeto serializado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es el que se aplicará después sobre datos de producción o de prueba en el Módulo 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DATA/PROCESSED_DATA.CSV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Exportación del dataset procesado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El dataset resultante pasa de 21 columnas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(crudo, con texto) a 26 columnas — todas numéricas, producto de imputación, codificación y variables derivadas.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Ejemplo de transformación completa: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Churn (Yes/No) se convierte en churn (1/0); Contract se expande en tres columnas dummy.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Esta versión es la que alimenta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directamente el entrenamiento de modelos — nunca se modela sobre el dataset crudo.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PREPARACIÓN FINAL ANTES DEL ENTRENAMIENTO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Checklist de calidad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4 · Feature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101800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¿Todas las columnas son numéricas? (0 columnas tipo object, salvo el identificador customerID)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101800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¿No quedan valores nulos?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37560"/>
            <a:ext cx="101800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¿Las variables categóricas relevantes están codificadas de forma consistente con el tipo de modelo a usar?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23360"/>
            <a:ext cx="101800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¿El escalamiento se aplicó solo donde es necesario, y el transformador quedó serializado?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10911535" cy="1005840"/>
          </a:xfrm>
          <a:prstGeom prst="roundRect">
            <a:avLst>
              <a:gd name="adj" fmla="val 10000"/>
            </a:avLst>
          </a:prstGeom>
          <a:solidFill>
            <a:srgbClr val="C1592F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83480"/>
            <a:ext cx="102714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41911"/>
                </a:solidFill>
                <a:latin typeface="Calibri"/>
              </a:rPr>
              <a:t>Siguiente módulo: </a:t>
            </a:r>
            <a:r>
              <a:rPr sz="1700" b="0" i="1">
                <a:solidFill>
                  <a:srgbClr val="241911"/>
                </a:solidFill>
                <a:latin typeface="Calibri"/>
              </a:rPr>
              <a:t>Modelamiento de Datos — Clasificación, primer entrenamiento de modelos supervisados sobre este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