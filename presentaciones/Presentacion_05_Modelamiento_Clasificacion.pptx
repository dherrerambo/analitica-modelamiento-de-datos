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C1592F"/>
                </a:solidFill>
                <a:latin typeface="Calibri"/>
              </a:rPr>
              <a:t>MÓDULO 7 · PRESENTACIÓN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11535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Modelamiento de Datos — Clasificación Directa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 i="0">
                <a:solidFill>
                  <a:srgbClr val="241911"/>
                </a:solidFill>
                <a:latin typeface="Cambr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8" y="2578608"/>
            <a:ext cx="10116007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50" b="1" i="0">
                <a:solidFill>
                  <a:srgbClr val="C1592F"/>
                </a:solidFill>
                <a:latin typeface="Calibri"/>
              </a:rPr>
              <a:t>Objetivo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CBBBA8"/>
                </a:solidFill>
                <a:latin typeface="Calibri"/>
              </a:rPr>
              <a:t>Entrenar modelos supervisados de clasificación, evaluar su rendimiento con validación cruzada y comparar algoritmos base.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813048"/>
            <a:ext cx="502920" cy="50292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 i="0">
                <a:solidFill>
                  <a:srgbClr val="241911"/>
                </a:solidFill>
                <a:latin typeface="Cambr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8" y="3785616"/>
            <a:ext cx="10116007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50" b="1" i="0">
                <a:solidFill>
                  <a:srgbClr val="C1592F"/>
                </a:solidFill>
                <a:latin typeface="Calibri"/>
              </a:rPr>
              <a:t>Audiencia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CBBBA8"/>
                </a:solidFill>
                <a:latin typeface="Calibri"/>
              </a:rPr>
              <a:t>Profesionales de Salud, Economía, Comunicación e Ingeniería.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5020056"/>
            <a:ext cx="502920" cy="50292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 i="0">
                <a:solidFill>
                  <a:srgbClr val="241911"/>
                </a:solidFill>
                <a:latin typeface="Cambria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4992624"/>
            <a:ext cx="10116007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50" b="1" i="0">
                <a:solidFill>
                  <a:srgbClr val="C1592F"/>
                </a:solidFill>
                <a:latin typeface="Calibri"/>
              </a:rPr>
              <a:t>Conexión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CBBBA8"/>
                </a:solidFill>
                <a:latin typeface="Calibri"/>
              </a:rPr>
              <a:t>Primer entrenamiento formal de modelos sobre el dataset preparado en el Módulo 6 (processed_data.csv).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CBBBA8"/>
                </a:solidFill>
                <a:latin typeface="Calibri"/>
              </a:rPr>
              <a:t>Presentación 5 · Modelamiento de Datos — Clasificación</a:t>
            </a:r>
          </a:p>
        </p:txBody>
      </p:sp>
      <p:sp>
        <p:nvSpPr>
          <p:cNvPr id="12" name="Oval 11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PREDECIR UNA VARIABLE BINARIA (Y ∈ {0, 1})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Formulación del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5 · Modelamiento de Datos — Clasificación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91153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El churn se formaliza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como problema de clasificación binaria supervisada: cada observación tiene una etiqueta conocida (churn = 0 o churn = 1) que el modelo aprende a predecir.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El objetivo del modelo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no es explicar el pasado, sino generalizar: predecir correctamente el churn de clientes que el modelo nunca ha visto.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Toda la fase de Feature Engineering (Módulo 6)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existe en función de este momento — sin variables limpias y codificadas, no hay entrenamiento posible.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TRAIN / TEST SPLIT Y STRATIFIED K-FOLD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Estrategia de división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5 · Modelamiento de Datos — Clasificación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11535" cy="2212848"/>
          </a:xfrm>
          <a:prstGeom prst="roundRect">
            <a:avLst>
              <a:gd name="adj" fmla="val 4500"/>
            </a:avLst>
          </a:prstGeom>
          <a:solidFill>
            <a:srgbClr val="1C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1929384"/>
            <a:ext cx="82296" cy="82296"/>
          </a:xfrm>
          <a:prstGeom prst="ellipse">
            <a:avLst/>
          </a:prstGeom>
          <a:solidFill>
            <a:srgbClr val="E06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" y="1929384"/>
            <a:ext cx="82296" cy="822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1929384"/>
            <a:ext cx="82296" cy="82296"/>
          </a:xfrm>
          <a:prstGeom prst="ellipse">
            <a:avLst/>
          </a:prstGeom>
          <a:solidFill>
            <a:srgbClr val="5BB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11096"/>
            <a:ext cx="10637215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50" b="0" i="1">
                <a:solidFill>
                  <a:srgbClr val="CBBBA8"/>
                </a:solidFill>
                <a:latin typeface="Calibri"/>
              </a:rPr>
              <a:t>4_Modeling.ipynb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148840"/>
            <a:ext cx="10436047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3ECE2"/>
                </a:solidFill>
                <a:latin typeface="Courier New"/>
              </a:rPr>
              <a:t>from sklearn.model_selection import train_test_split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3ECE2"/>
                </a:solidFill>
                <a:latin typeface="Courier New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3ECE2"/>
                </a:solidFill>
                <a:latin typeface="Courier New"/>
              </a:rPr>
              <a:t>X_train, X_test, y_train, y_test = train_test_split(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3ECE2"/>
                </a:solidFill>
                <a:latin typeface="Courier New"/>
              </a:rPr>
              <a:t>    X, y, test_size=0.2, stratify=y, random_state=42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3ECE2"/>
                </a:solidFill>
                <a:latin typeface="Courier New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15968"/>
            <a:ext cx="10911535" cy="1993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3D2B1E"/>
                </a:solidFill>
                <a:latin typeface="Calibri"/>
              </a:rPr>
              <a:t>stratify=y es obligatorio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 cuando existe desbalance de clases (73.5% / 26.5%) — garantiza que ambos conjuntos mantengan la misma proporción de clases.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3D2B1E"/>
                </a:solidFill>
                <a:latin typeface="Calibri"/>
              </a:rPr>
              <a:t>Stratified K-Fold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 extiende este principio a validación cruzada: evita que un fold quede sin representación suficiente de la clase minoritaria.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FUNDAMENTO CONCEPTUAL, FUNCIÓN SIGMOIDE Y PROBABILIDADES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Regresión Logística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5 · Modelamiento de Datos — Clasificación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91153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A diferencia de la regresión lineal,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la Regresión Logística no predice un valor continuo sino una probabilidad acotada entre 0 y 1, mediante la función sigmoide.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Fórmula: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P(Y=1) = 1 / (1 + e^(−z)), donde z es la combinación lineal de las variables predictoras.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Ventaja clave: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sus coeficientes son directamente interpretables como cambios en el log-odds — es el modelo de referencia cuando la explicabilidad importa tanto como la precisión.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CRITERIOS DE DIVISIÓN (GINI / ENTROPÍA) E INTERPRETABILIDAD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Árboles de Decisión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5 · Modelamiento de Datos — Clasificación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965960"/>
          <a:ext cx="10911534" cy="1700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73460"/>
                <a:gridCol w="7638074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Criterio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Qué mide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Gini (gini)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Probabilidad de clasificar mal una observación elegida al azar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Entropía (entropy)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Grado de desorden/incertidumbre en el nodo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986784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400" b="0" i="1">
                <a:solidFill>
                  <a:srgbClr val="6B5F4E"/>
                </a:solidFill>
                <a:latin typeface="Calibri"/>
              </a:rPr>
              <a:t>Ambos criterios producen árboles muy similares en la práctica. Ventaja diferencial frente a la Regresión Logística: captura relaciones no lineales e interacciones entre variables sin necesidad de especificarlas manualmente.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ENSAMBLE POR BAGGING Y REDUCCIÓN DE VARIANZA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Random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5 · Modelamiento de Datos — Clasificación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91153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Random Forest entrena múltiples árboles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sobre submuestras aleatorias de datos y variables (bagging), y combina sus predicciones por votación.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El bagging reduce la varianza del modelo: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un árbol individual tiende a sobreajustar, pero el promedio de muchos árboles decorrelacionados es más estable.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Costo del beneficio: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se pierde la interpretabilidad directa de un único árbol — se compensa parcialmente con feature_importances_.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VERDADEROS/FALSOS POSITIVOS Y VERDADEROS/FALSOS NEGATIVOS — SALIDA REAL DE 4_MODELING.IPYNB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Matriz de confusión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5 · Modelamiento de Datos — Clasificación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25874" y="1783080"/>
            <a:ext cx="9139946" cy="3840480"/>
          </a:xfrm>
          <a:prstGeom prst="roundRect">
            <a:avLst>
              <a:gd name="adj" fmla="val 6000"/>
            </a:avLst>
          </a:prstGeom>
          <a:solidFill>
            <a:srgbClr val="FBF8F2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4_Modeling_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178" y="1929384"/>
            <a:ext cx="8847338" cy="35478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715000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0" i="1">
                <a:solidFill>
                  <a:srgbClr val="6B5F4E"/>
                </a:solidFill>
                <a:latin typeface="Calibri"/>
              </a:rPr>
              <a:t>Arriba-izquierda: Verdaderos Negativos. Arriba-derecha: Falsos Positivos. Abajo-izquierda: Falsos Negativos. Abajo-derecha: Verdaderos Positivos — la base de toda métrica de clasificación posterior.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ACCURACY, PRECISION, RECALL Y F1-SCORE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Métricas de clasificación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5 · Modelamiento de Datos — Clasificación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965960"/>
          <a:ext cx="10911534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09653"/>
                <a:gridCol w="2946114"/>
                <a:gridCol w="5455767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Métrica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Fórmula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Responde a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(VP+VN) / Total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¿Qué tan seguido acierta el modelo en general?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VP / (VP+FP)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De los que predije como churn, ¿cuántos lo eran realmente?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VP / (VP+FN)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De los que realmente eran churn, ¿cuántos detecté?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F1-Score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2×(P×R)/(P+R)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Balance entre Precision y Recall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120640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400" b="0" i="1">
                <a:solidFill>
                  <a:srgbClr val="6B5F4E"/>
                </a:solidFill>
                <a:latin typeface="Calibri"/>
              </a:rPr>
              <a:t>Con el desbalance observado (73.5%/26.5%), la Accuracy es engañosa: un modelo que siempre predice "No Churn" obtendría ~73.5% de Accuracy sin detectar un solo cliente en riesgo.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EVALUACIÓN DEL RENDIMIENTO DISCRIMINATIVO ANTE DISTINTOS UMBRALES — SALIDA REAL DE 4_MODELING.IPYNB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Curva ROC y AUC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5 · Modelamiento de Datos — Clasificación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27162" y="1783080"/>
            <a:ext cx="4937370" cy="3840480"/>
          </a:xfrm>
          <a:prstGeom prst="roundRect">
            <a:avLst>
              <a:gd name="adj" fmla="val 6000"/>
            </a:avLst>
          </a:prstGeom>
          <a:solidFill>
            <a:srgbClr val="FBF8F2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4_Modeling_im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466" y="1929384"/>
            <a:ext cx="4644762" cy="35478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715000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0" i="1">
                <a:solidFill>
                  <a:srgbClr val="6B5F4E"/>
                </a:solidFill>
                <a:latin typeface="Calibri"/>
              </a:rPr>
              <a:t>El AUC resume la curva en un solo número: 0.5 equivale a predicción aleatoria, 1.0 a un clasificador perfecto. Aquí Regresión Logística (0.843) y Random Forest (0.813) superan claramente al Árbol de Decisión (0.657).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FALSO NEGATIVO EN MEDICINA VS. FALSO POSITIVO EN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Costo del error por dominio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5 · Modelamiento de Datos — Clasificación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965960"/>
          <a:ext cx="10911533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73460"/>
                <a:gridCol w="2727883"/>
                <a:gridCol w="491019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Dominio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Error más costoso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Consecuencia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Medicina (diagnóstico)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Falso Negativo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Un paciente enfermo es enviado a casa sin tratamiento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Marketing / Retención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Falso Negativo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Un cliente en riesgo de churn no recibe oferta de retención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Marketing / Retención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Falso Positivo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Se ofrece un descuento innecesario a un cliente que iba a quedarse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553712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400" b="0" i="1">
                <a:solidFill>
                  <a:srgbClr val="6B5F4E"/>
                </a:solidFill>
                <a:latin typeface="Calibri"/>
              </a:rPr>
              <a:t>No existe un modelo "correcto" en el vacío — existe el modelo correcto para el costo de error específico del dominio de aplicación.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GUARDADO DE CLASIFICADORES EN MODELS/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Serialización de modelos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5 · Modelamiento de Datos — Clasificación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11535" cy="1883664"/>
          </a:xfrm>
          <a:prstGeom prst="roundRect">
            <a:avLst>
              <a:gd name="adj" fmla="val 4500"/>
            </a:avLst>
          </a:prstGeom>
          <a:solidFill>
            <a:srgbClr val="1C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1929384"/>
            <a:ext cx="82296" cy="82296"/>
          </a:xfrm>
          <a:prstGeom prst="ellipse">
            <a:avLst/>
          </a:prstGeom>
          <a:solidFill>
            <a:srgbClr val="E06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" y="1929384"/>
            <a:ext cx="82296" cy="822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1929384"/>
            <a:ext cx="82296" cy="82296"/>
          </a:xfrm>
          <a:prstGeom prst="ellipse">
            <a:avLst/>
          </a:prstGeom>
          <a:solidFill>
            <a:srgbClr val="5BB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11096"/>
            <a:ext cx="10637215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50" b="0" i="1">
                <a:solidFill>
                  <a:srgbClr val="CBBBA8"/>
                </a:solidFill>
                <a:latin typeface="Calibri"/>
              </a:rPr>
              <a:t>4_Modeling.ipynb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148840"/>
            <a:ext cx="1043604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3ECE2"/>
                </a:solidFill>
                <a:latin typeface="Courier New"/>
              </a:rPr>
              <a:t>import pickle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3ECE2"/>
                </a:solidFill>
                <a:latin typeface="Courier New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3ECE2"/>
                </a:solidFill>
                <a:latin typeface="Courier New"/>
              </a:rPr>
              <a:t>with open('models/logistic_regression.pkl', 'wb') as f: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3ECE2"/>
                </a:solidFill>
                <a:latin typeface="Courier New"/>
              </a:rPr>
              <a:t>    pickle.dump(modelo_lr, 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86784"/>
            <a:ext cx="10911535" cy="2322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3D2B1E"/>
                </a:solidFill>
                <a:latin typeface="Calibri"/>
              </a:rPr>
              <a:t>Cada modelo entrenado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 se serializa de forma independiente — permite comparar versiones sin tener que reentrenar cada vez.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3D2B1E"/>
                </a:solidFill>
                <a:latin typeface="Calibri"/>
              </a:rPr>
              <a:t>Esta misma convención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 (serializar en models/) es la que se usó para el scaler en el Módulo 6 — mantiene consistencia en todo el flujo de trabajo.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COMPARATIVA INICIAL DE DESEMPEÑO ENTRE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Balance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5 · Modelamiento de Datos — Clasificación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965960"/>
          <a:ext cx="10911534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73460"/>
                <a:gridCol w="4364614"/>
                <a:gridCol w="32734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Fortaleza principal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Limitación principal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Regresión Logística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Interpretabilidad, rapidez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Asume relaciones lineales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Árbol de Decisión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Captura no linealidad, visual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Propenso a sobreajuste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Robusto, buen desempeño general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Menos interpretable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892040"/>
            <a:ext cx="10911535" cy="1143000"/>
          </a:xfrm>
          <a:prstGeom prst="roundRect">
            <a:avLst>
              <a:gd name="adj" fmla="val 10000"/>
            </a:avLst>
          </a:prstGeom>
          <a:solidFill>
            <a:srgbClr val="3D2B1E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892040"/>
            <a:ext cx="10271455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50" b="1" i="1">
                <a:solidFill>
                  <a:srgbClr val="C1592F"/>
                </a:solidFill>
                <a:latin typeface="Cambria"/>
              </a:rPr>
              <a:t>Estos son modelos base, sin ajuste de hiperparámetros. Siguiente módulo: Optimización de Modelos — de aquí se parte, no se llega.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