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63" r:id="rId2"/>
    <p:sldId id="36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9323AF-B30C-4E0B-9C83-C68CD4D98082}" v="3" dt="2026-08-21T21:18:53.7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422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Herrera M." userId="7f434f5315031350" providerId="LiveId" clId="{0E21904C-ADBC-437A-ACA4-7BD1B7FCB9FC}"/>
    <pc:docChg chg="undo custSel addSld delSld modSld sldOrd">
      <pc:chgData name="Diego Herrera M." userId="7f434f5315031350" providerId="LiveId" clId="{0E21904C-ADBC-437A-ACA4-7BD1B7FCB9FC}" dt="2026-08-21T22:26:47.887" v="187" actId="207"/>
      <pc:docMkLst>
        <pc:docMk/>
      </pc:docMkLst>
      <pc:sldChg chg="delSp modSp del mod">
        <pc:chgData name="Diego Herrera M." userId="7f434f5315031350" providerId="LiveId" clId="{0E21904C-ADBC-437A-ACA4-7BD1B7FCB9FC}" dt="2026-08-21T21:15:31.259" v="38" actId="47"/>
        <pc:sldMkLst>
          <pc:docMk/>
          <pc:sldMk cId="0" sldId="256"/>
        </pc:sldMkLst>
        <pc:spChg chg="del">
          <ac:chgData name="Diego Herrera M." userId="7f434f5315031350" providerId="LiveId" clId="{0E21904C-ADBC-437A-ACA4-7BD1B7FCB9FC}" dt="2026-08-21T21:11:57.041" v="6" actId="478"/>
          <ac:spMkLst>
            <pc:docMk/>
            <pc:sldMk cId="0" sldId="256"/>
            <ac:spMk id="2" creationId="{00000000-0000-0000-0000-000000000000}"/>
          </ac:spMkLst>
        </pc:spChg>
        <pc:spChg chg="mod">
          <ac:chgData name="Diego Herrera M." userId="7f434f5315031350" providerId="LiveId" clId="{0E21904C-ADBC-437A-ACA4-7BD1B7FCB9FC}" dt="2026-08-21T21:12:19.184" v="7" actId="207"/>
          <ac:spMkLst>
            <pc:docMk/>
            <pc:sldMk cId="0" sldId="256"/>
            <ac:spMk id="6" creationId="{00000000-0000-0000-0000-000000000000}"/>
          </ac:spMkLst>
        </pc:spChg>
      </pc:sldChg>
      <pc:sldChg chg="addSp modSp add mod">
        <pc:chgData name="Diego Herrera M." userId="7f434f5315031350" providerId="LiveId" clId="{0E21904C-ADBC-437A-ACA4-7BD1B7FCB9FC}" dt="2026-08-21T22:26:47.887" v="187" actId="207"/>
        <pc:sldMkLst>
          <pc:docMk/>
          <pc:sldMk cId="3378564645" sldId="362"/>
        </pc:sldMkLst>
        <pc:spChg chg="mod">
          <ac:chgData name="Diego Herrera M." userId="7f434f5315031350" providerId="LiveId" clId="{0E21904C-ADBC-437A-ACA4-7BD1B7FCB9FC}" dt="2026-08-21T21:14:58.932" v="28" actId="403"/>
          <ac:spMkLst>
            <pc:docMk/>
            <pc:sldMk cId="3378564645" sldId="362"/>
            <ac:spMk id="2" creationId="{E98F2C67-FDC2-96E8-AF4B-6E24C77FC987}"/>
          </ac:spMkLst>
        </pc:spChg>
        <pc:spChg chg="mod">
          <ac:chgData name="Diego Herrera M." userId="7f434f5315031350" providerId="LiveId" clId="{0E21904C-ADBC-437A-ACA4-7BD1B7FCB9FC}" dt="2026-08-21T21:15:26.784" v="37" actId="14100"/>
          <ac:spMkLst>
            <pc:docMk/>
            <pc:sldMk cId="3378564645" sldId="362"/>
            <ac:spMk id="3" creationId="{422AC90F-5146-5F37-FA29-8F02FE4D44E5}"/>
          </ac:spMkLst>
        </pc:spChg>
        <pc:spChg chg="add mod ord">
          <ac:chgData name="Diego Herrera M." userId="7f434f5315031350" providerId="LiveId" clId="{0E21904C-ADBC-437A-ACA4-7BD1B7FCB9FC}" dt="2026-08-21T22:26:47.887" v="187" actId="207"/>
          <ac:spMkLst>
            <pc:docMk/>
            <pc:sldMk cId="3378564645" sldId="362"/>
            <ac:spMk id="14" creationId="{638461ED-8A71-BACF-91B4-3599C2EE4C56}"/>
          </ac:spMkLst>
        </pc:spChg>
        <pc:spChg chg="add mod ord">
          <ac:chgData name="Diego Herrera M." userId="7f434f5315031350" providerId="LiveId" clId="{0E21904C-ADBC-437A-ACA4-7BD1B7FCB9FC}" dt="2026-08-21T21:14:15.889" v="21" actId="14100"/>
          <ac:spMkLst>
            <pc:docMk/>
            <pc:sldMk cId="3378564645" sldId="362"/>
            <ac:spMk id="16" creationId="{F220C309-6961-697E-B3DA-2C79B4023429}"/>
          </ac:spMkLst>
        </pc:spChg>
        <pc:spChg chg="add mod">
          <ac:chgData name="Diego Herrera M." userId="7f434f5315031350" providerId="LiveId" clId="{0E21904C-ADBC-437A-ACA4-7BD1B7FCB9FC}" dt="2026-08-21T21:19:47.613" v="185" actId="20577"/>
          <ac:spMkLst>
            <pc:docMk/>
            <pc:sldMk cId="3378564645" sldId="362"/>
            <ac:spMk id="18" creationId="{FB081CC8-22B8-4ED8-E959-6BE7DA34FF2B}"/>
          </ac:spMkLst>
        </pc:spChg>
      </pc:sldChg>
      <pc:sldChg chg="addSp delSp modSp new mod ord modClrScheme chgLayout">
        <pc:chgData name="Diego Herrera M." userId="7f434f5315031350" providerId="LiveId" clId="{0E21904C-ADBC-437A-ACA4-7BD1B7FCB9FC}" dt="2026-08-21T21:19:20.130" v="182" actId="122"/>
        <pc:sldMkLst>
          <pc:docMk/>
          <pc:sldMk cId="2992239400" sldId="363"/>
        </pc:sldMkLst>
        <pc:spChg chg="del mod ord">
          <ac:chgData name="Diego Herrera M." userId="7f434f5315031350" providerId="LiveId" clId="{0E21904C-ADBC-437A-ACA4-7BD1B7FCB9FC}" dt="2026-08-21T21:16:12.004" v="46" actId="700"/>
          <ac:spMkLst>
            <pc:docMk/>
            <pc:sldMk cId="2992239400" sldId="363"/>
            <ac:spMk id="2" creationId="{C1B41541-4F3A-D52E-29B2-D192159073F9}"/>
          </ac:spMkLst>
        </pc:spChg>
        <pc:spChg chg="del mod ord">
          <ac:chgData name="Diego Herrera M." userId="7f434f5315031350" providerId="LiveId" clId="{0E21904C-ADBC-437A-ACA4-7BD1B7FCB9FC}" dt="2026-08-21T21:16:12.004" v="46" actId="700"/>
          <ac:spMkLst>
            <pc:docMk/>
            <pc:sldMk cId="2992239400" sldId="363"/>
            <ac:spMk id="3" creationId="{12AFCE27-84D5-3113-E923-EA0BB6978611}"/>
          </ac:spMkLst>
        </pc:spChg>
        <pc:spChg chg="add del">
          <ac:chgData name="Diego Herrera M." userId="7f434f5315031350" providerId="LiveId" clId="{0E21904C-ADBC-437A-ACA4-7BD1B7FCB9FC}" dt="2026-08-21T21:15:53.655" v="43" actId="22"/>
          <ac:spMkLst>
            <pc:docMk/>
            <pc:sldMk cId="2992239400" sldId="363"/>
            <ac:spMk id="5" creationId="{FB8E7AA9-7C28-56AF-4084-DD735CD99812}"/>
          </ac:spMkLst>
        </pc:spChg>
        <pc:spChg chg="add ord">
          <ac:chgData name="Diego Herrera M." userId="7f434f5315031350" providerId="LiveId" clId="{0E21904C-ADBC-437A-ACA4-7BD1B7FCB9FC}" dt="2026-08-21T21:16:17.899" v="47" actId="167"/>
          <ac:spMkLst>
            <pc:docMk/>
            <pc:sldMk cId="2992239400" sldId="363"/>
            <ac:spMk id="7" creationId="{DBBE4859-49C9-ED88-BD3B-D075F3A24D55}"/>
          </ac:spMkLst>
        </pc:spChg>
        <pc:spChg chg="add mod ord">
          <ac:chgData name="Diego Herrera M." userId="7f434f5315031350" providerId="LiveId" clId="{0E21904C-ADBC-437A-ACA4-7BD1B7FCB9FC}" dt="2026-08-21T21:18:43.189" v="161" actId="313"/>
          <ac:spMkLst>
            <pc:docMk/>
            <pc:sldMk cId="2992239400" sldId="363"/>
            <ac:spMk id="8" creationId="{7EACCEB7-5963-84F6-5407-3E8C31FD4007}"/>
          </ac:spMkLst>
        </pc:spChg>
        <pc:spChg chg="add mod ord">
          <ac:chgData name="Diego Herrera M." userId="7f434f5315031350" providerId="LiveId" clId="{0E21904C-ADBC-437A-ACA4-7BD1B7FCB9FC}" dt="2026-08-21T21:18:31.350" v="148" actId="20577"/>
          <ac:spMkLst>
            <pc:docMk/>
            <pc:sldMk cId="2992239400" sldId="363"/>
            <ac:spMk id="9" creationId="{76C0A663-6C6F-9562-0D9E-5618BCC97466}"/>
          </ac:spMkLst>
        </pc:spChg>
        <pc:spChg chg="add mod">
          <ac:chgData name="Diego Herrera M." userId="7f434f5315031350" providerId="LiveId" clId="{0E21904C-ADBC-437A-ACA4-7BD1B7FCB9FC}" dt="2026-08-21T21:19:20.130" v="182" actId="122"/>
          <ac:spMkLst>
            <pc:docMk/>
            <pc:sldMk cId="2992239400" sldId="363"/>
            <ac:spMk id="11" creationId="{3872CBC3-B3C7-1D1C-DE82-837AD58F326F}"/>
          </ac:spMkLst>
        </pc:spChg>
        <pc:picChg chg="add mod">
          <ac:chgData name="Diego Herrera M." userId="7f434f5315031350" providerId="LiveId" clId="{0E21904C-ADBC-437A-ACA4-7BD1B7FCB9FC}" dt="2026-08-21T21:18:36.750" v="160" actId="1035"/>
          <ac:picMkLst>
            <pc:docMk/>
            <pc:sldMk cId="2992239400" sldId="363"/>
            <ac:picMk id="10" creationId="{54C4ABCE-91BC-071C-C03C-7DFC2A06164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github.com/dherrerambo" TargetMode="External"/><Relationship Id="rId7" Type="http://schemas.openxmlformats.org/officeDocument/2006/relationships/hyperlink" Target="mailto:dherrerambo@gmail.com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www.linkedin.com/in/dherrerambo/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DBBE4859-49C9-ED88-BD3B-D075F3A24D5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7EACCEB7-5963-84F6-5407-3E8C31FD4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Analítica y modelamiento de datos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6C0A663-6C6F-9562-0D9E-5618BCC974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Especialización en Analítica de Datos</a:t>
            </a:r>
            <a:endParaRPr lang="es-CO" dirty="0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54C4ABCE-91BC-071C-C03C-7DFC2A061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62347" y="3560094"/>
            <a:ext cx="2667000" cy="76200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3872CBC3-B3C7-1D1C-DE82-837AD58F326F}"/>
              </a:ext>
            </a:extLst>
          </p:cNvPr>
          <p:cNvSpPr txBox="1"/>
          <p:nvPr/>
        </p:nvSpPr>
        <p:spPr>
          <a:xfrm>
            <a:off x="11049000" y="6546998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/>
              <a:t>2026.Ago.21</a:t>
            </a:r>
          </a:p>
        </p:txBody>
      </p:sp>
    </p:spTree>
    <p:extLst>
      <p:ext uri="{BB962C8B-B14F-4D97-AF65-F5344CB8AC3E}">
        <p14:creationId xmlns:p14="http://schemas.microsoft.com/office/powerpoint/2010/main" val="2992239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638461ED-8A71-BACF-91B4-3599C2EE4C5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8F2C67-FDC2-96E8-AF4B-6E24C77FC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218" y="609600"/>
            <a:ext cx="7935303" cy="1356360"/>
          </a:xfrm>
        </p:spPr>
        <p:txBody>
          <a:bodyPr>
            <a:normAutofit/>
          </a:bodyPr>
          <a:lstStyle/>
          <a:p>
            <a:r>
              <a:rPr lang="es-CO" sz="3600" b="1" dirty="0">
                <a:solidFill>
                  <a:srgbClr val="3D2B1E"/>
                </a:solidFill>
                <a:latin typeface="Cambria"/>
                <a:ea typeface="+mn-ea"/>
                <a:cs typeface="+mn-cs"/>
              </a:rPr>
              <a:t>Diego Herrera Malambo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2AC90F-5146-5F37-FA29-8F02FE4D4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3095" y="2242038"/>
            <a:ext cx="7462778" cy="385396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ES" sz="2100" dirty="0">
                <a:solidFill>
                  <a:srgbClr val="3D2B1E"/>
                </a:solidFill>
                <a:latin typeface="Calibri"/>
              </a:rPr>
              <a:t>Más de 12 años de experiencia en el sector salud liderando iniciativas de Business </a:t>
            </a:r>
            <a:r>
              <a:rPr lang="es-ES" sz="2100" dirty="0" err="1">
                <a:solidFill>
                  <a:srgbClr val="3D2B1E"/>
                </a:solidFill>
                <a:latin typeface="Calibri"/>
              </a:rPr>
              <a:t>Intelligence</a:t>
            </a:r>
            <a:r>
              <a:rPr lang="es-ES" sz="2100" dirty="0">
                <a:solidFill>
                  <a:srgbClr val="3D2B1E"/>
                </a:solidFill>
                <a:latin typeface="Calibri"/>
              </a:rPr>
              <a:t>, Analítica Avanzada y Transformación Digital, transformando datos en información estratégica para la toma de decisiones y la generación de valor organizacional.</a:t>
            </a:r>
          </a:p>
          <a:p>
            <a:pPr marL="0" indent="0" algn="just">
              <a:buNone/>
            </a:pPr>
            <a:endParaRPr lang="es-ES" sz="2100" dirty="0">
              <a:solidFill>
                <a:srgbClr val="3D2B1E"/>
              </a:solidFill>
              <a:latin typeface="Calibri"/>
            </a:endParaRPr>
          </a:p>
          <a:p>
            <a:pPr marL="0" algn="just"/>
            <a:r>
              <a:rPr lang="es-ES" sz="1600" dirty="0">
                <a:solidFill>
                  <a:srgbClr val="3D2B1E"/>
                </a:solidFill>
                <a:latin typeface="Calibri"/>
              </a:rPr>
              <a:t>Planeación estratégica y gestión de redes de prestación en salud.</a:t>
            </a:r>
          </a:p>
          <a:p>
            <a:pPr marL="0" algn="just"/>
            <a:r>
              <a:rPr lang="es-ES" sz="1600" dirty="0">
                <a:solidFill>
                  <a:srgbClr val="3D2B1E"/>
                </a:solidFill>
                <a:latin typeface="Calibri"/>
              </a:rPr>
              <a:t>Ciencia de Datos y Machine </a:t>
            </a:r>
            <a:r>
              <a:rPr lang="es-ES" sz="1600" dirty="0" err="1">
                <a:solidFill>
                  <a:srgbClr val="3D2B1E"/>
                </a:solidFill>
                <a:latin typeface="Calibri"/>
              </a:rPr>
              <a:t>Learning</a:t>
            </a:r>
            <a:r>
              <a:rPr lang="es-ES" sz="1600" dirty="0">
                <a:solidFill>
                  <a:srgbClr val="3D2B1E"/>
                </a:solidFill>
                <a:latin typeface="Calibri"/>
              </a:rPr>
              <a:t> aplicado a la detección de anomalías.</a:t>
            </a:r>
          </a:p>
          <a:p>
            <a:pPr marL="0" algn="just"/>
            <a:r>
              <a:rPr lang="es-ES" sz="1600" dirty="0">
                <a:solidFill>
                  <a:srgbClr val="3D2B1E"/>
                </a:solidFill>
                <a:latin typeface="Calibri"/>
              </a:rPr>
              <a:t>Business </a:t>
            </a:r>
            <a:r>
              <a:rPr lang="es-ES" sz="1600" dirty="0" err="1">
                <a:solidFill>
                  <a:srgbClr val="3D2B1E"/>
                </a:solidFill>
                <a:latin typeface="Calibri"/>
              </a:rPr>
              <a:t>Intelligence</a:t>
            </a:r>
            <a:r>
              <a:rPr lang="es-ES" sz="1600" dirty="0">
                <a:solidFill>
                  <a:srgbClr val="3D2B1E"/>
                </a:solidFill>
                <a:latin typeface="Calibri"/>
              </a:rPr>
              <a:t> &amp; </a:t>
            </a:r>
            <a:r>
              <a:rPr lang="es-ES" sz="1600" dirty="0" err="1">
                <a:solidFill>
                  <a:srgbClr val="3D2B1E"/>
                </a:solidFill>
                <a:latin typeface="Calibri"/>
              </a:rPr>
              <a:t>Analytics</a:t>
            </a:r>
            <a:r>
              <a:rPr lang="es-ES" sz="1600" dirty="0">
                <a:solidFill>
                  <a:srgbClr val="3D2B1E"/>
                </a:solidFill>
                <a:latin typeface="Calibri"/>
              </a:rPr>
              <a:t> (</a:t>
            </a:r>
            <a:r>
              <a:rPr lang="es-ES" sz="1600" dirty="0" err="1">
                <a:solidFill>
                  <a:srgbClr val="3D2B1E"/>
                </a:solidFill>
                <a:latin typeface="Calibri"/>
              </a:rPr>
              <a:t>PowerBi</a:t>
            </a:r>
            <a:r>
              <a:rPr lang="es-ES" sz="1600" dirty="0">
                <a:solidFill>
                  <a:srgbClr val="3D2B1E"/>
                </a:solidFill>
                <a:latin typeface="Calibri"/>
              </a:rPr>
              <a:t>, SQL, Data </a:t>
            </a:r>
            <a:r>
              <a:rPr lang="es-ES" sz="1600" dirty="0" err="1">
                <a:solidFill>
                  <a:srgbClr val="3D2B1E"/>
                </a:solidFill>
                <a:latin typeface="Calibri"/>
              </a:rPr>
              <a:t>Warehouse</a:t>
            </a:r>
            <a:r>
              <a:rPr lang="es-ES" sz="1600" dirty="0">
                <a:solidFill>
                  <a:srgbClr val="3D2B1E"/>
                </a:solidFill>
                <a:latin typeface="Calibri"/>
              </a:rPr>
              <a:t> y Data Lake)</a:t>
            </a:r>
          </a:p>
          <a:p>
            <a:pPr marL="0" algn="just"/>
            <a:r>
              <a:rPr lang="es-ES" sz="1600" dirty="0">
                <a:solidFill>
                  <a:srgbClr val="3D2B1E"/>
                </a:solidFill>
                <a:latin typeface="Calibri"/>
              </a:rPr>
              <a:t>Gestión de riesgos y cumplimiento regulatorio.</a:t>
            </a:r>
          </a:p>
          <a:p>
            <a:pPr marL="45719" indent="0">
              <a:buNone/>
            </a:pPr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62C56-4695-5648-5D89-4B389411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s-CO" smtClean="0"/>
              <a:pPr/>
              <a:t>2</a:t>
            </a:fld>
            <a:endParaRPr lang="es-CO"/>
          </a:p>
        </p:txBody>
      </p:sp>
      <p:sp>
        <p:nvSpPr>
          <p:cNvPr id="16" name="Oval 2">
            <a:extLst>
              <a:ext uri="{FF2B5EF4-FFF2-40B4-BE49-F238E27FC236}">
                <a16:creationId xmlns:a16="http://schemas.microsoft.com/office/drawing/2014/main" id="{F220C309-6961-697E-B3DA-2C79B4023429}"/>
              </a:ext>
            </a:extLst>
          </p:cNvPr>
          <p:cNvSpPr/>
          <p:nvPr/>
        </p:nvSpPr>
        <p:spPr>
          <a:xfrm>
            <a:off x="465993" y="800100"/>
            <a:ext cx="2497016" cy="244917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400" b="1" i="0">
                <a:solidFill>
                  <a:srgbClr val="241911"/>
                </a:solidFill>
                <a:latin typeface="Cambria"/>
              </a:rPr>
              <a:t>DH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DAE564BF-2DB1-3063-3204-A20350D8EBA2}"/>
              </a:ext>
            </a:extLst>
          </p:cNvPr>
          <p:cNvGrpSpPr/>
          <p:nvPr/>
        </p:nvGrpSpPr>
        <p:grpSpPr>
          <a:xfrm>
            <a:off x="600473" y="912628"/>
            <a:ext cx="2258164" cy="5032745"/>
            <a:chOff x="264087" y="585940"/>
            <a:chExt cx="1693623" cy="3774559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FDD125C0-6914-445E-3D1F-D336FF7B0D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197" t="16101" r="42296" b="15548"/>
            <a:stretch>
              <a:fillRect/>
            </a:stretch>
          </p:blipFill>
          <p:spPr>
            <a:xfrm rot="5400000">
              <a:off x="268088" y="581939"/>
              <a:ext cx="1685622" cy="1693623"/>
            </a:xfrm>
            <a:prstGeom prst="flowChartConnector">
              <a:avLst/>
            </a:prstGeom>
            <a:ln>
              <a:solidFill>
                <a:schemeClr val="accent6">
                  <a:lumMod val="50000"/>
                </a:schemeClr>
              </a:solidFill>
            </a:ln>
          </p:spPr>
        </p:pic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00D95496-F26B-E6F9-E4C0-60C436B1D849}"/>
                </a:ext>
              </a:extLst>
            </p:cNvPr>
            <p:cNvGrpSpPr/>
            <p:nvPr/>
          </p:nvGrpSpPr>
          <p:grpSpPr>
            <a:xfrm>
              <a:off x="386999" y="2384665"/>
              <a:ext cx="1447800" cy="616606"/>
              <a:chOff x="6781801" y="4066446"/>
              <a:chExt cx="1842653" cy="784770"/>
            </a:xfrm>
          </p:grpSpPr>
          <p:pic>
            <p:nvPicPr>
              <p:cNvPr id="7" name="Imagen 6" descr="Forma&#10;&#10;Descripción generada automáticamente con confianza media">
                <a:hlinkClick r:id="rId3"/>
                <a:extLst>
                  <a:ext uri="{FF2B5EF4-FFF2-40B4-BE49-F238E27FC236}">
                    <a16:creationId xmlns:a16="http://schemas.microsoft.com/office/drawing/2014/main" id="{4250C34E-B45A-FBCA-76D9-4F831C030B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8157" r="29409" b="31515"/>
              <a:stretch/>
            </p:blipFill>
            <p:spPr>
              <a:xfrm>
                <a:off x="8092535" y="4421299"/>
                <a:ext cx="450692" cy="409142"/>
              </a:xfrm>
              <a:prstGeom prst="rect">
                <a:avLst/>
              </a:prstGeom>
            </p:spPr>
          </p:pic>
          <p:sp>
            <p:nvSpPr>
              <p:cNvPr id="8" name="CuadroTexto 7">
                <a:extLst>
                  <a:ext uri="{FF2B5EF4-FFF2-40B4-BE49-F238E27FC236}">
                    <a16:creationId xmlns:a16="http://schemas.microsoft.com/office/drawing/2014/main" id="{432088CF-128E-9384-95FD-271449F227FF}"/>
                  </a:ext>
                </a:extLst>
              </p:cNvPr>
              <p:cNvSpPr txBox="1"/>
              <p:nvPr/>
            </p:nvSpPr>
            <p:spPr>
              <a:xfrm>
                <a:off x="6781801" y="4066446"/>
                <a:ext cx="1842653" cy="3036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467" b="1" i="1" dirty="0">
                    <a:latin typeface="Lora" pitchFamily="2" charset="0"/>
                  </a:rPr>
                  <a:t>--- </a:t>
                </a:r>
                <a:r>
                  <a:rPr lang="es-CO" sz="1467" b="1" i="1" dirty="0" err="1">
                    <a:latin typeface="Lora" pitchFamily="2" charset="0"/>
                  </a:rPr>
                  <a:t>dherrerambo</a:t>
                </a:r>
                <a:r>
                  <a:rPr lang="es-CO" sz="1467" b="1" i="1" dirty="0">
                    <a:latin typeface="Lora" pitchFamily="2" charset="0"/>
                  </a:rPr>
                  <a:t> ---</a:t>
                </a:r>
              </a:p>
            </p:txBody>
          </p:sp>
          <p:pic>
            <p:nvPicPr>
              <p:cNvPr id="9" name="Imagen 8" descr="Forma&#10;&#10;Descripción generada automáticamente con confianza baja">
                <a:hlinkClick r:id="rId5"/>
                <a:extLst>
                  <a:ext uri="{FF2B5EF4-FFF2-40B4-BE49-F238E27FC236}">
                    <a16:creationId xmlns:a16="http://schemas.microsoft.com/office/drawing/2014/main" id="{94C97CC8-BFCB-6B65-A535-6C033D1700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51050" y="4428936"/>
                <a:ext cx="393868" cy="393868"/>
              </a:xfrm>
              <a:prstGeom prst="rect">
                <a:avLst/>
              </a:prstGeom>
            </p:spPr>
          </p:pic>
          <p:pic>
            <p:nvPicPr>
              <p:cNvPr id="10" name="Imagen 9" descr="Forma&#10;&#10;Descripción generada automáticamente con confianza baja">
                <a:hlinkClick r:id="rId7"/>
                <a:extLst>
                  <a:ext uri="{FF2B5EF4-FFF2-40B4-BE49-F238E27FC236}">
                    <a16:creationId xmlns:a16="http://schemas.microsoft.com/office/drawing/2014/main" id="{461ACEF7-8EDD-977A-FF20-53F9193C94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952742" y="4400524"/>
                <a:ext cx="450692" cy="450692"/>
              </a:xfrm>
              <a:prstGeom prst="rect">
                <a:avLst/>
              </a:prstGeom>
            </p:spPr>
          </p:pic>
        </p:grpSp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4435C12D-F8A2-1DBC-26ED-E57889764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1309" y="3114373"/>
              <a:ext cx="1249667" cy="1246126"/>
            </a:xfrm>
            <a:prstGeom prst="rect">
              <a:avLst/>
            </a:prstGeom>
          </p:spPr>
        </p:pic>
      </p:grpSp>
      <p:sp>
        <p:nvSpPr>
          <p:cNvPr id="18" name="Oval 5">
            <a:extLst>
              <a:ext uri="{FF2B5EF4-FFF2-40B4-BE49-F238E27FC236}">
                <a16:creationId xmlns:a16="http://schemas.microsoft.com/office/drawing/2014/main" id="{FB081CC8-22B8-4ED8-E959-6BE7DA34FF2B}"/>
              </a:ext>
            </a:extLst>
          </p:cNvPr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 dirty="0">
                <a:solidFill>
                  <a:srgbClr val="241911"/>
                </a:solidFill>
                <a:latin typeface="Calibri"/>
              </a:rPr>
              <a:t>0</a:t>
            </a:r>
            <a:r>
              <a:rPr lang="es-CO" sz="1100" b="1" i="0" dirty="0">
                <a:solidFill>
                  <a:srgbClr val="241911"/>
                </a:solidFill>
                <a:latin typeface="Calibri"/>
              </a:rPr>
              <a:t>1</a:t>
            </a:r>
            <a:endParaRPr sz="1100" b="1" i="0" dirty="0">
              <a:solidFill>
                <a:srgbClr val="24191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8564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MÓDULO 1 · BIENVENIDA AL SEMINARIO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 dirty="0" err="1">
                <a:solidFill>
                  <a:srgbClr val="3D2B1E"/>
                </a:solidFill>
                <a:latin typeface="Cambria"/>
              </a:rPr>
              <a:t>Fundamentos</a:t>
            </a:r>
            <a:r>
              <a:rPr sz="3000" b="1" i="0" dirty="0">
                <a:solidFill>
                  <a:srgbClr val="3D2B1E"/>
                </a:solidFill>
                <a:latin typeface="Cambria"/>
              </a:rPr>
              <a:t>, </a:t>
            </a:r>
            <a:r>
              <a:rPr sz="3000" b="1" i="0" dirty="0" err="1">
                <a:solidFill>
                  <a:srgbClr val="3D2B1E"/>
                </a:solidFill>
                <a:latin typeface="Cambria"/>
              </a:rPr>
              <a:t>Entorno</a:t>
            </a:r>
            <a:r>
              <a:rPr sz="3000" b="1" i="0" dirty="0">
                <a:solidFill>
                  <a:srgbClr val="3D2B1E"/>
                </a:solidFill>
                <a:latin typeface="Cambria"/>
              </a:rPr>
              <a:t> y </a:t>
            </a:r>
            <a:r>
              <a:rPr sz="3000" b="1" i="0" dirty="0" err="1">
                <a:solidFill>
                  <a:srgbClr val="3D2B1E"/>
                </a:solidFill>
                <a:latin typeface="Cambria"/>
              </a:rPr>
              <a:t>Diagnóstico</a:t>
            </a:r>
            <a:endParaRPr sz="3000" b="1" i="0" dirty="0">
              <a:solidFill>
                <a:srgbClr val="3D2B1E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 dirty="0">
                <a:solidFill>
                  <a:srgbClr val="241911"/>
                </a:solidFill>
                <a:latin typeface="Calibr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27751" cy="2043684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41248" y="19842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56816"/>
            <a:ext cx="4303623" cy="1641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 dirty="0" err="1">
                <a:solidFill>
                  <a:srgbClr val="3D2B1E"/>
                </a:solidFill>
                <a:latin typeface="Calibri"/>
              </a:rPr>
              <a:t>Objetivo</a:t>
            </a:r>
            <a:r>
              <a:rPr sz="1450" b="1" i="0" dirty="0">
                <a:solidFill>
                  <a:srgbClr val="3D2B1E"/>
                </a:solidFill>
                <a:latin typeface="Calibri"/>
              </a:rPr>
              <a:t> del </a:t>
            </a:r>
            <a:r>
              <a:rPr sz="1450" b="1" i="0" dirty="0" err="1">
                <a:solidFill>
                  <a:srgbClr val="3D2B1E"/>
                </a:solidFill>
                <a:latin typeface="Calibri"/>
              </a:rPr>
              <a:t>módulo</a:t>
            </a:r>
            <a:endParaRPr sz="1450" b="1" i="0" dirty="0">
              <a:solidFill>
                <a:srgbClr val="3D2B1E"/>
              </a:solidFill>
              <a:latin typeface="Calibri"/>
            </a:endParaRPr>
          </a:p>
          <a:p>
            <a:pPr>
              <a:lnSpc>
                <a:spcPct val="112000"/>
              </a:lnSpc>
            </a:pPr>
            <a:r>
              <a:rPr sz="1250" b="0" i="0" dirty="0" err="1">
                <a:solidFill>
                  <a:srgbClr val="6B5F4E"/>
                </a:solidFill>
                <a:latin typeface="Calibri"/>
              </a:rPr>
              <a:t>Establecer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las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reglas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de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trabajo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,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verificar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el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entorno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técnico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Python y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ubicar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el punto de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partida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de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cada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estudiante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mediante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un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diagnóstico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6B5F4E"/>
                </a:solidFill>
                <a:latin typeface="Calibri"/>
              </a:rPr>
              <a:t>inicial</a:t>
            </a:r>
            <a:r>
              <a:rPr sz="1250" b="0" i="0" dirty="0">
                <a:solidFill>
                  <a:srgbClr val="6B5F4E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3" y="1783080"/>
            <a:ext cx="5327751" cy="2043684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25031" y="19842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6823" y="1956816"/>
            <a:ext cx="4303623" cy="1641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Audiencia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Profesionales de Salud, Economía, Comunicación e Ingeniería — perfiles multidisciplinarios que convergen en la Especialización.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82796"/>
            <a:ext cx="5327751" cy="2043684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248" y="4283964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256532"/>
            <a:ext cx="4303623" cy="1641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El valor del especialista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No está en programar, sino en traducir datos en decisiones dentro de su propio dominio profesional.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4082796"/>
            <a:ext cx="5327751" cy="2043684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425031" y="4283964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6823" y="4256532"/>
            <a:ext cx="4303623" cy="1641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Caso transversal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Un único caso de negocio (Telco Customer Churn) para ejercitar los conceptos técnicos módulo a módulo, sobre un problema realista.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METODOLOGÍA ORIENTADA A PROBLEMAS Y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Reglas del juego y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011680"/>
          <a:ext cx="10911534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73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8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Componente</a:t>
                      </a:r>
                    </a:p>
                  </a:txBody>
                  <a:tcPr marL="109728" marR="109728" marT="54864" marB="54864" anchor="ctr">
                    <a:solidFill>
                      <a:srgbClr val="3D2B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Descripción</a:t>
                      </a:r>
                    </a:p>
                  </a:txBody>
                  <a:tcPr marL="109728" marR="109728" marT="54864" marB="54864" anchor="ctr">
                    <a:solidFill>
                      <a:srgbClr val="3D2B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Formato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Sesiones prácticas sobre notebooks (.ipynb), no solo teoría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Evaluación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Basada en entregables reproducibles, no en memorización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Ritmo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Progresivo: cada notebook depende de la salida del anterior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Expectativa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Autonomía para ejecutar y depurar código provisto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09160"/>
            <a:ext cx="1091153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1">
                <a:solidFill>
                  <a:srgbClr val="6B5F4E"/>
                </a:solidFill>
                <a:latin typeface="Calibri"/>
              </a:rPr>
              <a:t>El seminario evalúa la capacidad de producir un flujo de trabajo reproducible — no de recitar teoría — porque eso es lo que un equipo espera al recibir un proyecto analítico.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¿POR QUÉ USAMOS ENTORNOS VIRTUALES (.VENV)?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Aislamiento de entornos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11535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3D2B1E"/>
                </a:solidFill>
                <a:latin typeface="Calibri"/>
              </a:rPr>
              <a:t>Sin aislamiento, </a:t>
            </a:r>
            <a:r>
              <a:rPr sz="1500" b="0" i="0">
                <a:solidFill>
                  <a:srgbClr val="3D2B1E"/>
                </a:solidFill>
                <a:latin typeface="Calibri"/>
              </a:rPr>
              <a:t> cada proyecto comparte las mismas versiones de librerías del sistema — un cambio en un proyecto puede romper otro.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3D2B1E"/>
                </a:solidFill>
                <a:latin typeface="Calibri"/>
              </a:rPr>
              <a:t>.venv evita conflictos </a:t>
            </a:r>
            <a:r>
              <a:rPr sz="1500" b="0" i="0">
                <a:solidFill>
                  <a:srgbClr val="3D2B1E"/>
                </a:solidFill>
                <a:latin typeface="Calibri"/>
              </a:rPr>
              <a:t> de dependencias entre el seminario y otros entornos ya instalados en el equipo del estudiante.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10911535" cy="2148840"/>
          </a:xfrm>
          <a:prstGeom prst="roundRect">
            <a:avLst>
              <a:gd name="adj" fmla="val 4500"/>
            </a:avLst>
          </a:prstGeom>
          <a:solidFill>
            <a:srgbClr val="1C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04672" y="3849624"/>
            <a:ext cx="82296" cy="82296"/>
          </a:xfrm>
          <a:prstGeom prst="ellipse">
            <a:avLst/>
          </a:prstGeom>
          <a:solidFill>
            <a:srgbClr val="E06C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0976" y="3849624"/>
            <a:ext cx="82296" cy="822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97280" y="3849624"/>
            <a:ext cx="82296" cy="82296"/>
          </a:xfrm>
          <a:prstGeom prst="ellipse">
            <a:avLst/>
          </a:prstGeom>
          <a:solidFill>
            <a:srgbClr val="5BB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831336"/>
            <a:ext cx="10637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 i="1">
                <a:solidFill>
                  <a:srgbClr val="CBBBA8"/>
                </a:solidFill>
                <a:latin typeface="Calibri"/>
              </a:rPr>
              <a:t>terminal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69080"/>
            <a:ext cx="10436047" cy="1636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C1592F"/>
                </a:solidFill>
                <a:latin typeface="Courier New"/>
              </a:rPr>
              <a:t>$ </a:t>
            </a:r>
            <a:r>
              <a:rPr sz="1350" b="0" i="0">
                <a:solidFill>
                  <a:srgbClr val="F3ECE2"/>
                </a:solidFill>
                <a:latin typeface="Courier New"/>
              </a:rPr>
              <a:t> python -m venv .venv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C1592F"/>
                </a:solidFill>
                <a:latin typeface="Courier New"/>
              </a:rPr>
              <a:t>$ </a:t>
            </a:r>
            <a:r>
              <a:rPr sz="1350" b="0" i="0">
                <a:solidFill>
                  <a:srgbClr val="F3ECE2"/>
                </a:solidFill>
                <a:latin typeface="Courier New"/>
              </a:rPr>
              <a:t> source .venv/bin/activate      # Linux/Mac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C1592F"/>
                </a:solidFill>
                <a:latin typeface="Courier New"/>
              </a:rPr>
              <a:t>$ </a:t>
            </a:r>
            <a:r>
              <a:rPr sz="1350" b="0" i="0">
                <a:solidFill>
                  <a:srgbClr val="F3ECE2"/>
                </a:solidFill>
                <a:latin typeface="Courier New"/>
              </a:rPr>
              <a:t> .venv\Scripts\activate         # Windows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C1592F"/>
                </a:solidFill>
                <a:latin typeface="Courier New"/>
              </a:rPr>
              <a:t>$ </a:t>
            </a:r>
            <a:r>
              <a:rPr sz="1350" b="0" i="0">
                <a:solidFill>
                  <a:srgbClr val="F3ECE2"/>
                </a:solidFill>
                <a:latin typeface="Courier New"/>
              </a:rPr>
              <a:t> pip install -r requirements.txt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LIBRERÍAS CORE Y SU 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Stack tecnológico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10911534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73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8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Librería</a:t>
                      </a:r>
                    </a:p>
                  </a:txBody>
                  <a:tcPr marL="109728" marR="109728" marT="54864" marB="54864" anchor="ctr">
                    <a:solidFill>
                      <a:srgbClr val="3D2B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Uso principal</a:t>
                      </a:r>
                    </a:p>
                  </a:txBody>
                  <a:tcPr marL="109728" marR="109728" marT="54864" marB="54864" anchor="ctr">
                    <a:solidFill>
                      <a:srgbClr val="3D2B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Manipulación y limpieza de datos tabulares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scikit-learn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Modelamiento, preprocesamiento y métricas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statsmodels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Inferencia estadística y validación de supuestos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seaborn / matplotlib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Visualización exploratoria y explicativa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3D2B1E"/>
                          </a:solidFill>
                          <a:latin typeface="Calibri"/>
                        </a:rPr>
                        <a:t>ipykernel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 i="0">
                          <a:solidFill>
                            <a:srgbClr val="6B5F4E"/>
                          </a:solidFill>
                          <a:latin typeface="Calibri"/>
                        </a:rPr>
                        <a:t>Ejecución de notebooks en Jupyter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ESTRUCTURA DE CARPETAS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Flujo de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11535" cy="2331720"/>
          </a:xfrm>
          <a:prstGeom prst="roundRect">
            <a:avLst>
              <a:gd name="adj" fmla="val 4500"/>
            </a:avLst>
          </a:prstGeom>
          <a:solidFill>
            <a:srgbClr val="1C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929384"/>
            <a:ext cx="82296" cy="82296"/>
          </a:xfrm>
          <a:prstGeom prst="ellipse">
            <a:avLst/>
          </a:prstGeom>
          <a:solidFill>
            <a:srgbClr val="E06C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0976" y="1929384"/>
            <a:ext cx="82296" cy="822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" y="1929384"/>
            <a:ext cx="82296" cy="82296"/>
          </a:xfrm>
          <a:prstGeom prst="ellipse">
            <a:avLst/>
          </a:prstGeom>
          <a:solidFill>
            <a:srgbClr val="5BB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911096"/>
            <a:ext cx="10637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 i="1">
                <a:solidFill>
                  <a:srgbClr val="CBBBA8"/>
                </a:solidFill>
                <a:latin typeface="Calibri"/>
              </a:rPr>
              <a:t>estructura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48840"/>
            <a:ext cx="10436047" cy="1819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50" b="0" i="0">
                <a:solidFill>
                  <a:srgbClr val="F3ECE2"/>
                </a:solidFill>
                <a:latin typeface="Courier New"/>
              </a:rPr>
              <a:t>proyecto/</a:t>
            </a:r>
          </a:p>
          <a:p>
            <a:pPr>
              <a:spcAft>
                <a:spcPts val="400"/>
              </a:spcAft>
            </a:pPr>
            <a:r>
              <a:rPr sz="1350" b="0" i="0">
                <a:solidFill>
                  <a:srgbClr val="F3ECE2"/>
                </a:solidFill>
                <a:latin typeface="Courier New"/>
              </a:rPr>
              <a:t>├── data/         # datos crudos y procesados</a:t>
            </a:r>
          </a:p>
          <a:p>
            <a:pPr>
              <a:spcAft>
                <a:spcPts val="400"/>
              </a:spcAft>
            </a:pPr>
            <a:r>
              <a:rPr sz="1350" b="0" i="0">
                <a:solidFill>
                  <a:srgbClr val="F3ECE2"/>
                </a:solidFill>
                <a:latin typeface="Courier New"/>
              </a:rPr>
              <a:t>├── models/       # objetos serializados (.pkl)</a:t>
            </a:r>
          </a:p>
          <a:p>
            <a:pPr>
              <a:spcAft>
                <a:spcPts val="400"/>
              </a:spcAft>
            </a:pPr>
            <a:r>
              <a:rPr sz="1350" b="0" i="0">
                <a:solidFill>
                  <a:srgbClr val="F3ECE2"/>
                </a:solidFill>
                <a:latin typeface="Courier New"/>
              </a:rPr>
              <a:t>├── notebooks/    # 0_Diagnostic.ipynb ... 9_Ethics.ipynb</a:t>
            </a:r>
          </a:p>
          <a:p>
            <a:pPr>
              <a:spcAft>
                <a:spcPts val="400"/>
              </a:spcAft>
            </a:pPr>
            <a:r>
              <a:rPr sz="1350" b="0" i="0">
                <a:solidFill>
                  <a:srgbClr val="F3ECE2"/>
                </a:solidFill>
                <a:latin typeface="Courier New"/>
              </a:rPr>
              <a:t>└── output/       # resultados, predicciones, reportes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1153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D2B1E"/>
                </a:solidFill>
                <a:latin typeface="Calibri"/>
              </a:rPr>
              <a:t>Cada carpeta tiene una responsabilidad única: separa datos de código de resultados.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D2B1E"/>
                </a:solidFill>
                <a:latin typeface="Calibri"/>
              </a:rPr>
              <a:t>Esta convención se mantiene sin cambios durante todo el seminario — es la base de la reproducibilidad.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EJECUCIÓN DESDE JUPYTER Y BUENAS PRÁCTICAS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Estrategia de código limpio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97480"/>
            <a:ext cx="3466490" cy="214884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41248" y="28986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71216"/>
            <a:ext cx="2442362" cy="1746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Ejecución en orden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Un notebook debe poder correr de principio a fin sin errores (kernel restart &amp; run all).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2602" y="2697480"/>
            <a:ext cx="3466490" cy="214884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63770" y="28986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5562" y="2871216"/>
            <a:ext cx="2442362" cy="1746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Nombres descriptivos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Nombrar variables de forma clara y evitar celdas “colgadas” sin propósito definido.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5124" y="2697480"/>
            <a:ext cx="3466490" cy="214884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86292" y="28986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8084" y="2871216"/>
            <a:ext cx="2442362" cy="1746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Reproducibilidad como calidad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Si otro analista no puede reproducir el resultado, el análisis no está terminado.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257800"/>
            <a:ext cx="10911535" cy="868680"/>
          </a:xfrm>
          <a:prstGeom prst="roundRect">
            <a:avLst>
              <a:gd name="adj" fmla="val 12000"/>
            </a:avLst>
          </a:prstGeom>
          <a:solidFill>
            <a:srgbClr val="3D2B1E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5257800"/>
            <a:ext cx="1027145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C1592F"/>
                </a:solidFill>
                <a:latin typeface="Calibri"/>
              </a:rPr>
              <a:t>La regla no escrita del seminario: </a:t>
            </a:r>
            <a:r>
              <a:rPr sz="1500" b="0" i="1">
                <a:solidFill>
                  <a:srgbClr val="FFFFFF"/>
                </a:solidFill>
                <a:latin typeface="Calibri"/>
              </a:rPr>
              <a:t>“Restart &amp; Run All” antes de entregar, siempre.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0_DIAGNOSTIC.IPYNB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Diagnóstico: propósito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911535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7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3D2B1E"/>
                </a:solidFill>
                <a:latin typeface="Calibri"/>
              </a:rPr>
              <a:t>No es un examen teórico, </a:t>
            </a:r>
            <a:r>
              <a:rPr sz="1700" b="0" i="0">
                <a:solidFill>
                  <a:srgbClr val="3D2B1E"/>
                </a:solidFill>
                <a:latin typeface="Calibri"/>
              </a:rPr>
              <a:t> sino una verificación de que el entorno funciona y de que el estudiante domina lo mínimo para avanzar.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7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3D2B1E"/>
                </a:solidFill>
                <a:latin typeface="Calibri"/>
              </a:rPr>
              <a:t>Cubre: </a:t>
            </a:r>
            <a:r>
              <a:rPr sz="1700" b="0" i="0">
                <a:solidFill>
                  <a:srgbClr val="3D2B1E"/>
                </a:solidFill>
                <a:latin typeface="Calibri"/>
              </a:rPr>
              <a:t> sintaxis básica de Python, manejo de librerías y conceptos estadísticos elementales.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170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3D2B1E"/>
                </a:solidFill>
                <a:latin typeface="Calibri"/>
              </a:rPr>
              <a:t>No se califica ni se aprueba: </a:t>
            </a:r>
            <a:r>
              <a:rPr sz="1700" b="0" i="0">
                <a:solidFill>
                  <a:srgbClr val="3D2B1E"/>
                </a:solidFill>
                <a:latin typeface="Calibri"/>
              </a:rPr>
              <a:t> es el punto de partida para calibrar el ritmo de las primeras sesiones.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709160"/>
            <a:ext cx="3454298" cy="64008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709160"/>
            <a:ext cx="317997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>
                <a:solidFill>
                  <a:srgbClr val="3D2B1E"/>
                </a:solidFill>
                <a:latin typeface="Calibri"/>
              </a:rPr>
              <a:t>Sintaxis de 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8698" y="4709160"/>
            <a:ext cx="3454298" cy="64008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5858" y="4709160"/>
            <a:ext cx="317997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>
                <a:solidFill>
                  <a:srgbClr val="3D2B1E"/>
                </a:solidFill>
                <a:latin typeface="Calibri"/>
              </a:rPr>
              <a:t>Manejo de librerías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6" y="4709160"/>
            <a:ext cx="3454298" cy="64008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34476" y="4709160"/>
            <a:ext cx="317997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 i="0">
                <a:solidFill>
                  <a:srgbClr val="3D2B1E"/>
                </a:solidFill>
                <a:latin typeface="Calibri"/>
              </a:rPr>
              <a:t>Estadística elemental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USO DE ASSERT PARA AUTOVERIFICACIÓN SIN DEPENDENCIAS EXTERNAS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Mecanismo de autoverificación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11535" cy="1417320"/>
          </a:xfrm>
          <a:prstGeom prst="roundRect">
            <a:avLst>
              <a:gd name="adj" fmla="val 4500"/>
            </a:avLst>
          </a:prstGeom>
          <a:solidFill>
            <a:srgbClr val="1C14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975104"/>
            <a:ext cx="82296" cy="82296"/>
          </a:xfrm>
          <a:prstGeom prst="ellipse">
            <a:avLst/>
          </a:prstGeom>
          <a:solidFill>
            <a:srgbClr val="E06C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50976" y="1975104"/>
            <a:ext cx="82296" cy="822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" y="1975104"/>
            <a:ext cx="82296" cy="82296"/>
          </a:xfrm>
          <a:prstGeom prst="ellipse">
            <a:avLst/>
          </a:prstGeom>
          <a:solidFill>
            <a:srgbClr val="5BB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956816"/>
            <a:ext cx="10637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0" i="1">
                <a:solidFill>
                  <a:srgbClr val="CBBBA8"/>
                </a:solidFill>
                <a:latin typeface="Calibri"/>
              </a:rPr>
              <a:t>0_Diagnostic.ipynb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194560"/>
            <a:ext cx="10436047" cy="9052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0" i="0">
                <a:solidFill>
                  <a:srgbClr val="F3ECE2"/>
                </a:solidFill>
                <a:latin typeface="Courier New"/>
              </a:rPr>
              <a:t>resultado = suma(2, 3)</a:t>
            </a:r>
          </a:p>
          <a:p>
            <a:pPr>
              <a:spcAft>
                <a:spcPts val="400"/>
              </a:spcAft>
            </a:pPr>
            <a:r>
              <a:rPr sz="1450" b="0" i="0">
                <a:solidFill>
                  <a:srgbClr val="F3ECE2"/>
                </a:solidFill>
                <a:latin typeface="Courier New"/>
              </a:rPr>
              <a:t>assert resultado == 5, "La función suma no retorna el valor esperado"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20440"/>
            <a:ext cx="10911535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5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450" b="1" i="0">
                <a:solidFill>
                  <a:srgbClr val="3D2B1E"/>
                </a:solidFill>
                <a:latin typeface="Calibri"/>
              </a:rPr>
              <a:t>assert </a:t>
            </a:r>
            <a:r>
              <a:rPr sz="1450" b="0" i="0">
                <a:solidFill>
                  <a:srgbClr val="3D2B1E"/>
                </a:solidFill>
                <a:latin typeface="Calibri"/>
              </a:rPr>
              <a:t> permite validar resultados de forma automática, sin necesidad de un profesor revisando manualmente cada notebook.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5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450" b="1" i="0">
                <a:solidFill>
                  <a:srgbClr val="3D2B1E"/>
                </a:solidFill>
                <a:latin typeface="Calibri"/>
              </a:rPr>
              <a:t>Si la aserción falla, </a:t>
            </a:r>
            <a:r>
              <a:rPr sz="1450" b="0" i="0">
                <a:solidFill>
                  <a:srgbClr val="3D2B1E"/>
                </a:solidFill>
                <a:latin typeface="Calibri"/>
              </a:rPr>
              <a:t> el notebook detiene la ejecución — señal inmediata de dónde está el error.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50" b="1" i="0">
                <a:solidFill>
                  <a:srgbClr val="9C4422"/>
                </a:solidFill>
                <a:latin typeface="Calibri"/>
              </a:rPr>
              <a:t>▸  </a:t>
            </a:r>
            <a:r>
              <a:rPr sz="1450" b="1" i="0">
                <a:solidFill>
                  <a:srgbClr val="3D2B1E"/>
                </a:solidFill>
                <a:latin typeface="Calibri"/>
              </a:rPr>
              <a:t>Se usará el mismo mecanismo </a:t>
            </a:r>
            <a:r>
              <a:rPr sz="1450" b="0" i="0">
                <a:solidFill>
                  <a:srgbClr val="3D2B1E"/>
                </a:solidFill>
                <a:latin typeface="Calibri"/>
              </a:rPr>
              <a:t> en módulos posteriores para validar transformaciones de datos y resultados de modelos.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BASE MÍNIMA ANTES DE AVANZAR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Repaso de conceptos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64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469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Área</a:t>
                      </a:r>
                    </a:p>
                  </a:txBody>
                  <a:tcPr marL="109728" marR="109728" marT="54864" marB="54864" anchor="ctr">
                    <a:solidFill>
                      <a:srgbClr val="3D2B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Conceptos revisados</a:t>
                      </a:r>
                    </a:p>
                  </a:txBody>
                  <a:tcPr marL="109728" marR="109728" marT="54864" marB="54864" anchor="ctr">
                    <a:solidFill>
                      <a:srgbClr val="3D2B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D2B1E"/>
                          </a:solidFill>
                          <a:latin typeface="Calibri"/>
                        </a:rPr>
                        <a:t>Lógica de programación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6B5F4E"/>
                          </a:solidFill>
                          <a:latin typeface="Calibri"/>
                        </a:rPr>
                        <a:t>Condicionales, bucles, funciones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D2B1E"/>
                          </a:solidFill>
                          <a:latin typeface="Calibri"/>
                        </a:rPr>
                        <a:t>Estructuras de datos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6B5F4E"/>
                          </a:solidFill>
                          <a:latin typeface="Calibri"/>
                        </a:rPr>
                        <a:t>Listas, diccionarios, indexación</a:t>
                      </a:r>
                    </a:p>
                  </a:txBody>
                  <a:tcPr marL="109728" marR="109728" marT="54864" marB="54864" anchor="ctr">
                    <a:solidFill>
                      <a:srgbClr val="F5EF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3D2B1E"/>
                          </a:solidFill>
                          <a:latin typeface="Calibri"/>
                        </a:rPr>
                        <a:t>Estadística elemental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6B5F4E"/>
                          </a:solidFill>
                          <a:latin typeface="Calibri"/>
                        </a:rPr>
                        <a:t>Media, mediana, varianza, distribución</a:t>
                      </a:r>
                    </a:p>
                  </a:txBody>
                  <a:tcPr marL="109728" marR="109728" marT="54864" marB="54864" anchor="ctr">
                    <a:solidFill>
                      <a:srgbClr val="FB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800600"/>
            <a:ext cx="10911535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1">
                <a:solidFill>
                  <a:srgbClr val="6B5F4E"/>
                </a:solidFill>
                <a:latin typeface="Calibri"/>
              </a:rPr>
              <a:t>Estos conceptos no se re-enseñan en los notebooks técnicos: se asumen dominados desde el diagnóstico inicial.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9C4422"/>
                </a:solidFill>
                <a:latin typeface="Calibri"/>
              </a:rPr>
              <a:t>DEL CÓDIGO AL PROBLEMA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3D2B1E"/>
                </a:solidFill>
                <a:latin typeface="Cambria"/>
              </a:rPr>
              <a:t>Puente multidisciplinar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6B5F4E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66490" cy="278892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41248" y="19842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56816"/>
            <a:ext cx="2442362" cy="238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Salud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Un diccionario de Python puede representar el registro clínico de un paciente; una lista puede modelar una serie de mediciones.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2602" y="1783080"/>
            <a:ext cx="3466490" cy="278892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63770" y="19842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5562" y="1956816"/>
            <a:ext cx="2442362" cy="238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Economía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Una función que calcula un indicador financiero es análoga a una fórmula de negocio ya conocida por el estudiante.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5124" y="1783080"/>
            <a:ext cx="3466490" cy="278892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286292" y="1984248"/>
            <a:ext cx="457200" cy="457200"/>
          </a:xfrm>
          <a:prstGeom prst="ellipse">
            <a:avLst/>
          </a:prstGeom>
          <a:solidFill>
            <a:srgbClr val="3D2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C1592F"/>
                </a:solidFill>
                <a:latin typeface="Cambria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8084" y="1956816"/>
            <a:ext cx="2442362" cy="238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50" b="1" i="0">
                <a:solidFill>
                  <a:srgbClr val="3D2B1E"/>
                </a:solidFill>
                <a:latin typeface="Calibri"/>
              </a:rPr>
              <a:t>Comunicación</a:t>
            </a:r>
          </a:p>
          <a:p>
            <a:pPr>
              <a:lnSpc>
                <a:spcPct val="112000"/>
              </a:lnSpc>
            </a:pPr>
            <a:r>
              <a:rPr sz="1250" b="0" i="0">
                <a:solidFill>
                  <a:srgbClr val="6B5F4E"/>
                </a:solidFill>
                <a:latin typeface="Calibri"/>
              </a:rPr>
              <a:t>La lógica condicional (if/else) es la misma que rige la segmentación de audiencias en una campaña.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9000"/>
            </a:avLst>
          </a:prstGeom>
          <a:solidFill>
            <a:srgbClr val="3D2B1E"/>
          </a:solidFill>
          <a:ln>
            <a:noFill/>
          </a:ln>
          <a:effectLst>
            <a:outerShdw blurRad="91440" dist="45720" dir="5400000" rotWithShape="0">
              <a:srgbClr val="3D2B1E">
                <a:alpha val="7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4800600"/>
            <a:ext cx="1027145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 b="1" i="1">
                <a:solidFill>
                  <a:srgbClr val="C1592F"/>
                </a:solidFill>
                <a:latin typeface="Cambria"/>
              </a:rPr>
              <a:t>El código no reemplaza el conocimiento de dominio, lo amplifica.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9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 spc="160">
                <a:solidFill>
                  <a:srgbClr val="C1592F"/>
                </a:solidFill>
                <a:latin typeface="Calibri"/>
              </a:rPr>
              <a:t>VERIFICACIÓN FINAL ANTES DE AVANZAR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Cierre y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1">
                <a:solidFill>
                  <a:srgbClr val="CBBBA8"/>
                </a:solidFill>
                <a:latin typeface="Calibri"/>
              </a:rPr>
              <a:t>Presentación 1 · Fundamentos, Entorno y Diagnóstico</a:t>
            </a:r>
          </a:p>
        </p:txBody>
      </p:sp>
      <p:sp>
        <p:nvSpPr>
          <p:cNvPr id="6" name="Oval 5"/>
          <p:cNvSpPr/>
          <p:nvPr/>
        </p:nvSpPr>
        <p:spPr>
          <a:xfrm>
            <a:off x="11240719" y="6419088"/>
            <a:ext cx="310896" cy="310896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 i="0">
                <a:solidFill>
                  <a:srgbClr val="241911"/>
                </a:solidFill>
                <a:latin typeface="Calibri"/>
              </a:rP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i="0">
                <a:solidFill>
                  <a:srgbClr val="241911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65960"/>
            <a:ext cx="101800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Confirmar entorno activo: python --version, pip list.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34640"/>
            <a:ext cx="457200" cy="457200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i="0">
                <a:solidFill>
                  <a:srgbClr val="241911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34640"/>
            <a:ext cx="101800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Confirmar notebook 0_Diagnostic.ipynb ejecutado sin errores.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03320"/>
            <a:ext cx="457200" cy="457200"/>
          </a:xfrm>
          <a:prstGeom prst="ellipse">
            <a:avLst/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 i="0">
                <a:solidFill>
                  <a:srgbClr val="241911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703320"/>
            <a:ext cx="101800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Confirmar estructura de carpetas (data/, models/, notebooks/, output/) creada.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10911535" cy="1005840"/>
          </a:xfrm>
          <a:prstGeom prst="roundRect">
            <a:avLst>
              <a:gd name="adj" fmla="val 10000"/>
            </a:avLst>
          </a:prstGeom>
          <a:solidFill>
            <a:srgbClr val="C15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5074920"/>
            <a:ext cx="10271455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700" b="1" i="0">
                <a:solidFill>
                  <a:srgbClr val="241911"/>
                </a:solidFill>
                <a:latin typeface="Cambria"/>
              </a:rPr>
              <a:t>Siguiente paso: </a:t>
            </a:r>
            <a:r>
              <a:rPr sz="1700" b="0" i="0">
                <a:solidFill>
                  <a:srgbClr val="241911"/>
                </a:solidFill>
                <a:latin typeface="Calibri"/>
              </a:rPr>
              <a:t>obtención del dataset Telco Customer Churn (Módulo 4).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1098</Words>
  <Application>Microsoft Office PowerPoint</Application>
  <PresentationFormat>Panorámica</PresentationFormat>
  <Paragraphs>156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Lora</vt:lpstr>
      <vt:lpstr>Office Theme</vt:lpstr>
      <vt:lpstr>Analítica y modelamiento de datos</vt:lpstr>
      <vt:lpstr>Diego Herrera Malambo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Diego Herrera M.</cp:lastModifiedBy>
  <cp:revision>1</cp:revision>
  <dcterms:created xsi:type="dcterms:W3CDTF">2013-01-27T09:14:16Z</dcterms:created>
  <dcterms:modified xsi:type="dcterms:W3CDTF">2026-08-21T22:26:56Z</dcterms:modified>
  <cp:category/>
</cp:coreProperties>
</file>