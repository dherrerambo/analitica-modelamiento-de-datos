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9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868680"/>
            <a:ext cx="1371600" cy="1371600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400" b="1" i="0">
                <a:solidFill>
                  <a:srgbClr val="241911"/>
                </a:solidFill>
                <a:latin typeface="Cambria"/>
              </a:rPr>
              <a:t>DH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14600"/>
            <a:ext cx="69494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800" b="1" i="0">
                <a:solidFill>
                  <a:srgbClr val="FFFFFF"/>
                </a:solidFill>
                <a:latin typeface="Cambria"/>
              </a:rPr>
              <a:t>Diego Herrera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27248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1">
                <a:solidFill>
                  <a:srgbClr val="C1592F"/>
                </a:solidFill>
                <a:latin typeface="Calibri"/>
              </a:rPr>
              <a:t>Administrador de Empresas · Esp. en Gestión de Proyectos · Magíster en Estadística Aplicada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94760"/>
            <a:ext cx="108813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50" b="1" i="0">
                <a:solidFill>
                  <a:srgbClr val="C1592F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CBBBA8"/>
                </a:solidFill>
                <a:latin typeface="Calibri"/>
              </a:rPr>
              <a:t>Cerca de 12 años de trayectoria en el sector salud colombiano, liderando BI, analítica avanzada y transformación digital.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50" b="1" i="0">
                <a:solidFill>
                  <a:srgbClr val="C1592F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CBBBA8"/>
                </a:solidFill>
                <a:latin typeface="Calibri"/>
              </a:rPr>
              <a:t>Cargo actual: Coordinador de Seguimiento a la Red — Coosalud EPS. Lidera un equipo de 2 analistas en seguimiento contractual, indicadores de gestión y reporte a entes de control.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50" b="1" i="0">
                <a:solidFill>
                  <a:srgbClr val="C1592F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CBBBA8"/>
                </a:solidFill>
                <a:latin typeface="Calibri"/>
              </a:rPr>
              <a:t>Experiencia aplicada en ciencia de datos y machine learning para detección de anomalías, y en analítica orientada a decisiones estratégicas en redes de prestación de salud.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50" b="1" i="0">
                <a:solidFill>
                  <a:srgbClr val="C1592F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CBBBA8"/>
                </a:solidFill>
                <a:latin typeface="Calibri"/>
              </a:rPr>
              <a:t>Docente invitado en la Especialización en Analítica de Datos, con enfoque en llevar la teoría a casos reales y multisectoriales.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CBBBA8"/>
                </a:solidFill>
                <a:latin typeface="Calibri"/>
              </a:rPr>
              <a:t>Presentación 1 · Fundamentos, Entorno y Diagnóstico</a:t>
            </a:r>
          </a:p>
        </p:txBody>
      </p:sp>
      <p:sp>
        <p:nvSpPr>
          <p:cNvPr id="8" name="Oval 7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MÓDULO 1 · BIENVENIDA AL SEMINARIO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Fundamentos, Entorno y Diagnóstico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1 · Fundamentos, Entorno y Diagnóstico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327751" cy="2043684"/>
          </a:xfrm>
          <a:prstGeom prst="roundRect">
            <a:avLst>
              <a:gd name="adj" fmla="val 7000"/>
            </a:avLst>
          </a:prstGeom>
          <a:solidFill>
            <a:srgbClr val="FBF8F2"/>
          </a:solidFill>
          <a:ln>
            <a:noFill/>
          </a:ln>
          <a:effectLst>
            <a:outerShdw blurRad="91440" dist="45720" dir="5400000" rotWithShape="0">
              <a:srgbClr val="3D2B1E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" y="1984248"/>
            <a:ext cx="457200" cy="457200"/>
          </a:xfrm>
          <a:prstGeom prst="ellipse">
            <a:avLst/>
          </a:prstGeom>
          <a:solidFill>
            <a:srgbClr val="3D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C1592F"/>
                </a:solidFill>
                <a:latin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956816"/>
            <a:ext cx="4303623" cy="16413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50" b="1" i="0">
                <a:solidFill>
                  <a:srgbClr val="3D2B1E"/>
                </a:solidFill>
                <a:latin typeface="Calibri"/>
              </a:rPr>
              <a:t>Objetivo del módulo</a:t>
            </a:r>
          </a:p>
          <a:p>
            <a:pPr>
              <a:lnSpc>
                <a:spcPct val="112000"/>
              </a:lnSpc>
            </a:pPr>
            <a:r>
              <a:rPr sz="1250" b="0" i="0">
                <a:solidFill>
                  <a:srgbClr val="6B5F4E"/>
                </a:solidFill>
                <a:latin typeface="Calibri"/>
              </a:rPr>
              <a:t>Establecer las reglas de trabajo, verificar el entorno técnico en Python y ubicar el punto de partida de cada estudiante mediante un diagnóstico inicial.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863" y="1783080"/>
            <a:ext cx="5327751" cy="2043684"/>
          </a:xfrm>
          <a:prstGeom prst="roundRect">
            <a:avLst>
              <a:gd name="adj" fmla="val 7000"/>
            </a:avLst>
          </a:prstGeom>
          <a:solidFill>
            <a:srgbClr val="FBF8F2"/>
          </a:solidFill>
          <a:ln>
            <a:noFill/>
          </a:ln>
          <a:effectLst>
            <a:outerShdw blurRad="91440" dist="45720" dir="5400000" rotWithShape="0">
              <a:srgbClr val="3D2B1E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5031" y="1984248"/>
            <a:ext cx="457200" cy="457200"/>
          </a:xfrm>
          <a:prstGeom prst="ellipse">
            <a:avLst/>
          </a:prstGeom>
          <a:solidFill>
            <a:srgbClr val="3D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C1592F"/>
                </a:solidFill>
                <a:latin typeface="Cambr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6823" y="1956816"/>
            <a:ext cx="4303623" cy="16413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50" b="1" i="0">
                <a:solidFill>
                  <a:srgbClr val="3D2B1E"/>
                </a:solidFill>
                <a:latin typeface="Calibri"/>
              </a:rPr>
              <a:t>Audiencia</a:t>
            </a:r>
          </a:p>
          <a:p>
            <a:pPr>
              <a:lnSpc>
                <a:spcPct val="112000"/>
              </a:lnSpc>
            </a:pPr>
            <a:r>
              <a:rPr sz="1250" b="0" i="0">
                <a:solidFill>
                  <a:srgbClr val="6B5F4E"/>
                </a:solidFill>
                <a:latin typeface="Calibri"/>
              </a:rPr>
              <a:t>Profesionales de Salud, Economía, Comunicación e Ingeniería — perfiles multidisciplinarios que convergen en la Especialización.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082796"/>
            <a:ext cx="5327751" cy="2043684"/>
          </a:xfrm>
          <a:prstGeom prst="roundRect">
            <a:avLst>
              <a:gd name="adj" fmla="val 7000"/>
            </a:avLst>
          </a:prstGeom>
          <a:solidFill>
            <a:srgbClr val="FBF8F2"/>
          </a:solidFill>
          <a:ln>
            <a:noFill/>
          </a:ln>
          <a:effectLst>
            <a:outerShdw blurRad="91440" dist="45720" dir="5400000" rotWithShape="0">
              <a:srgbClr val="3D2B1E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1248" y="4283964"/>
            <a:ext cx="457200" cy="457200"/>
          </a:xfrm>
          <a:prstGeom prst="ellipse">
            <a:avLst/>
          </a:prstGeom>
          <a:solidFill>
            <a:srgbClr val="3D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C1592F"/>
                </a:solidFill>
                <a:latin typeface="Cambria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256532"/>
            <a:ext cx="4303623" cy="16413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50" b="1" i="0">
                <a:solidFill>
                  <a:srgbClr val="3D2B1E"/>
                </a:solidFill>
                <a:latin typeface="Calibri"/>
              </a:rPr>
              <a:t>El valor del especialista</a:t>
            </a:r>
          </a:p>
          <a:p>
            <a:pPr>
              <a:lnSpc>
                <a:spcPct val="112000"/>
              </a:lnSpc>
            </a:pPr>
            <a:r>
              <a:rPr sz="1250" b="0" i="0">
                <a:solidFill>
                  <a:srgbClr val="6B5F4E"/>
                </a:solidFill>
                <a:latin typeface="Calibri"/>
              </a:rPr>
              <a:t>No está en programar, sino en traducir datos en decisiones dentro de su propio dominio profesional.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3863" y="4082796"/>
            <a:ext cx="5327751" cy="2043684"/>
          </a:xfrm>
          <a:prstGeom prst="roundRect">
            <a:avLst>
              <a:gd name="adj" fmla="val 7000"/>
            </a:avLst>
          </a:prstGeom>
          <a:solidFill>
            <a:srgbClr val="FBF8F2"/>
          </a:solidFill>
          <a:ln>
            <a:noFill/>
          </a:ln>
          <a:effectLst>
            <a:outerShdw blurRad="91440" dist="45720" dir="5400000" rotWithShape="0">
              <a:srgbClr val="3D2B1E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5031" y="4283964"/>
            <a:ext cx="457200" cy="457200"/>
          </a:xfrm>
          <a:prstGeom prst="ellipse">
            <a:avLst/>
          </a:prstGeom>
          <a:solidFill>
            <a:srgbClr val="3D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C1592F"/>
                </a:solidFill>
                <a:latin typeface="Cambria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6823" y="4256532"/>
            <a:ext cx="4303623" cy="16413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50" b="1" i="0">
                <a:solidFill>
                  <a:srgbClr val="3D2B1E"/>
                </a:solidFill>
                <a:latin typeface="Calibri"/>
              </a:rPr>
              <a:t>Caso transversal</a:t>
            </a:r>
          </a:p>
          <a:p>
            <a:pPr>
              <a:lnSpc>
                <a:spcPct val="112000"/>
              </a:lnSpc>
            </a:pPr>
            <a:r>
              <a:rPr sz="1250" b="0" i="0">
                <a:solidFill>
                  <a:srgbClr val="6B5F4E"/>
                </a:solidFill>
                <a:latin typeface="Calibri"/>
              </a:rPr>
              <a:t>Un único caso de negocio (Telco Customer Churn) para ejercitar los conceptos técnicos módulo a módulo, sobre un problema realista.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METODOLOGÍA ORIENTADA A PROBLEMAS Y PROYECTOS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Reglas del juego y evaluación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1 · Fundamentos, Entorno y Diagnóstico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011680"/>
          <a:ext cx="10911534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73460"/>
                <a:gridCol w="7638074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Componente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Descripción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Formato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Sesiones prácticas sobre notebooks (.ipynb), no solo teoría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Evaluación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Basada en entregables reproducibles, no en memorización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Ritmo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Progresivo: cada notebook depende de la salida del anterior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Expectativa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Autonomía para ejecutar y depurar código provisto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709160"/>
            <a:ext cx="1091153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400" b="0" i="1">
                <a:solidFill>
                  <a:srgbClr val="6B5F4E"/>
                </a:solidFill>
                <a:latin typeface="Calibri"/>
              </a:rPr>
              <a:t>El seminario evalúa la capacidad de producir un flujo de trabajo reproducible — no de recitar teoría — porque eso es lo que un equipo espera al recibir un proyecto analítico.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¿POR QUÉ USAMOS ENTORNOS VIRTUALES (.VENV)?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Aislamiento de entornos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1 · Fundamentos, Entorno y Diagnóstico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911535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3D2B1E"/>
                </a:solidFill>
                <a:latin typeface="Calibri"/>
              </a:rPr>
              <a:t>Sin aislamiento, </a:t>
            </a:r>
            <a:r>
              <a:rPr sz="1500" b="0" i="0">
                <a:solidFill>
                  <a:srgbClr val="3D2B1E"/>
                </a:solidFill>
                <a:latin typeface="Calibri"/>
              </a:rPr>
              <a:t> cada proyecto comparte las mismas versiones de librerías del sistema — un cambio en un proyecto puede romper otro.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3D2B1E"/>
                </a:solidFill>
                <a:latin typeface="Calibri"/>
              </a:rPr>
              <a:t>.venv evita conflictos </a:t>
            </a:r>
            <a:r>
              <a:rPr sz="1500" b="0" i="0">
                <a:solidFill>
                  <a:srgbClr val="3D2B1E"/>
                </a:solidFill>
                <a:latin typeface="Calibri"/>
              </a:rPr>
              <a:t> de dependencias entre el seminario y otros entornos ya instalados en el equipo del estudiante.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03320"/>
            <a:ext cx="10911535" cy="2148840"/>
          </a:xfrm>
          <a:prstGeom prst="roundRect">
            <a:avLst>
              <a:gd name="adj" fmla="val 4500"/>
            </a:avLst>
          </a:prstGeom>
          <a:solidFill>
            <a:srgbClr val="1C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3849624"/>
            <a:ext cx="82296" cy="82296"/>
          </a:xfrm>
          <a:prstGeom prst="ellipse">
            <a:avLst/>
          </a:prstGeom>
          <a:solidFill>
            <a:srgbClr val="E06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0976" y="3849624"/>
            <a:ext cx="82296" cy="822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7280" y="3849624"/>
            <a:ext cx="82296" cy="82296"/>
          </a:xfrm>
          <a:prstGeom prst="ellipse">
            <a:avLst/>
          </a:prstGeom>
          <a:solidFill>
            <a:srgbClr val="5BB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831336"/>
            <a:ext cx="10637215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050" b="0" i="1">
                <a:solidFill>
                  <a:srgbClr val="CBBBA8"/>
                </a:solidFill>
                <a:latin typeface="Calibri"/>
              </a:rPr>
              <a:t>terminal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069080"/>
            <a:ext cx="10436047" cy="163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50" b="1" i="0">
                <a:solidFill>
                  <a:srgbClr val="C1592F"/>
                </a:solidFill>
                <a:latin typeface="Courier New"/>
              </a:rPr>
              <a:t>$ </a:t>
            </a:r>
            <a:r>
              <a:rPr sz="1350" b="0" i="0">
                <a:solidFill>
                  <a:srgbClr val="F3ECE2"/>
                </a:solidFill>
                <a:latin typeface="Courier New"/>
              </a:rPr>
              <a:t> python -m venv .venv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C1592F"/>
                </a:solidFill>
                <a:latin typeface="Courier New"/>
              </a:rPr>
              <a:t>$ </a:t>
            </a:r>
            <a:r>
              <a:rPr sz="1350" b="0" i="0">
                <a:solidFill>
                  <a:srgbClr val="F3ECE2"/>
                </a:solidFill>
                <a:latin typeface="Courier New"/>
              </a:rPr>
              <a:t> source .venv/bin/activate      # Linux/Mac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C1592F"/>
                </a:solidFill>
                <a:latin typeface="Courier New"/>
              </a:rPr>
              <a:t>$ </a:t>
            </a:r>
            <a:r>
              <a:rPr sz="1350" b="0" i="0">
                <a:solidFill>
                  <a:srgbClr val="F3ECE2"/>
                </a:solidFill>
                <a:latin typeface="Courier New"/>
              </a:rPr>
              <a:t> .venv\Scripts\activate         # Windows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C1592F"/>
                </a:solidFill>
                <a:latin typeface="Courier New"/>
              </a:rPr>
              <a:t>$ </a:t>
            </a:r>
            <a:r>
              <a:rPr sz="1350" b="0" i="0">
                <a:solidFill>
                  <a:srgbClr val="F3ECE2"/>
                </a:solidFill>
                <a:latin typeface="Courier New"/>
              </a:rPr>
              <a:t> pip install -r requirements.txt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LIBRERÍAS CORE Y SU 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Stack tecnológico del curso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1 · Fundamentos, Entorno y Diagnóstico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965960"/>
          <a:ext cx="10911534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73460"/>
                <a:gridCol w="7638074"/>
              </a:tblGrid>
              <a:tr h="59436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Librería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Uso principal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pandas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Manipulación y limpieza de datos tabulares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scikit-learn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Modelamiento, preprocesamiento y métricas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statsmodels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Inferencia estadística y validación de supuestos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seaborn / matplotlib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Visualización exploratoria y explicativa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3D2B1E"/>
                          </a:solidFill>
                          <a:latin typeface="Calibri"/>
                        </a:rPr>
                        <a:t>ipykernel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 i="0">
                          <a:solidFill>
                            <a:srgbClr val="6B5F4E"/>
                          </a:solidFill>
                          <a:latin typeface="Calibri"/>
                        </a:rPr>
                        <a:t>Ejecución de notebooks en Jupyter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ESTRUCTURA DE CARPETAS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Flujo de trabajo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1 · Fundamentos, Entorno y Diagnóstico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11535" cy="2331720"/>
          </a:xfrm>
          <a:prstGeom prst="roundRect">
            <a:avLst>
              <a:gd name="adj" fmla="val 4500"/>
            </a:avLst>
          </a:prstGeom>
          <a:solidFill>
            <a:srgbClr val="1C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2" y="1929384"/>
            <a:ext cx="82296" cy="82296"/>
          </a:xfrm>
          <a:prstGeom prst="ellipse">
            <a:avLst/>
          </a:prstGeom>
          <a:solidFill>
            <a:srgbClr val="E06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0976" y="1929384"/>
            <a:ext cx="82296" cy="822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1929384"/>
            <a:ext cx="82296" cy="82296"/>
          </a:xfrm>
          <a:prstGeom prst="ellipse">
            <a:avLst/>
          </a:prstGeom>
          <a:solidFill>
            <a:srgbClr val="5BB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11096"/>
            <a:ext cx="10637215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050" b="0" i="1">
                <a:solidFill>
                  <a:srgbClr val="CBBBA8"/>
                </a:solidFill>
                <a:latin typeface="Calibri"/>
              </a:rPr>
              <a:t>estructura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148840"/>
            <a:ext cx="10436047" cy="1819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50" b="0" i="0">
                <a:solidFill>
                  <a:srgbClr val="F3ECE2"/>
                </a:solidFill>
                <a:latin typeface="Courier New"/>
              </a:rPr>
              <a:t>proyecto/</a:t>
            </a:r>
          </a:p>
          <a:p>
            <a:pPr>
              <a:spcAft>
                <a:spcPts val="400"/>
              </a:spcAft>
            </a:pPr>
            <a:r>
              <a:rPr sz="1350" b="0" i="0">
                <a:solidFill>
                  <a:srgbClr val="F3ECE2"/>
                </a:solidFill>
                <a:latin typeface="Courier New"/>
              </a:rPr>
              <a:t>├── data/         # datos crudos y procesados</a:t>
            </a:r>
          </a:p>
          <a:p>
            <a:pPr>
              <a:spcAft>
                <a:spcPts val="400"/>
              </a:spcAft>
            </a:pPr>
            <a:r>
              <a:rPr sz="1350" b="0" i="0">
                <a:solidFill>
                  <a:srgbClr val="F3ECE2"/>
                </a:solidFill>
                <a:latin typeface="Courier New"/>
              </a:rPr>
              <a:t>├── models/       # objetos serializados (.pkl)</a:t>
            </a:r>
          </a:p>
          <a:p>
            <a:pPr>
              <a:spcAft>
                <a:spcPts val="400"/>
              </a:spcAft>
            </a:pPr>
            <a:r>
              <a:rPr sz="1350" b="0" i="0">
                <a:solidFill>
                  <a:srgbClr val="F3ECE2"/>
                </a:solidFill>
                <a:latin typeface="Courier New"/>
              </a:rPr>
              <a:t>├── notebooks/    # 0_Diagnostic.ipynb ... 9_Ethics.ipynb</a:t>
            </a:r>
          </a:p>
          <a:p>
            <a:pPr>
              <a:spcAft>
                <a:spcPts val="400"/>
              </a:spcAft>
            </a:pPr>
            <a:r>
              <a:rPr sz="1350" b="0" i="0">
                <a:solidFill>
                  <a:srgbClr val="F3ECE2"/>
                </a:solidFill>
                <a:latin typeface="Courier New"/>
              </a:rPr>
              <a:t>└── output/       # resultados, predicciones, reportes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1091153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3D2B1E"/>
                </a:solidFill>
                <a:latin typeface="Calibri"/>
              </a:rPr>
              <a:t>Cada carpeta tiene una responsabilidad única: separa datos de código de resultados.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3D2B1E"/>
                </a:solidFill>
                <a:latin typeface="Calibri"/>
              </a:rPr>
              <a:t>Esta convención se mantiene sin cambios durante todo el seminario — es la base de la reproducibilidad.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EJECUCIÓN DESDE JUPYTER Y BUENAS PRÁCTICAS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Estrategia de código limpio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1 · Fundamentos, Entorno y Diagnóstico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97480"/>
            <a:ext cx="3466490" cy="2148840"/>
          </a:xfrm>
          <a:prstGeom prst="roundRect">
            <a:avLst>
              <a:gd name="adj" fmla="val 7000"/>
            </a:avLst>
          </a:prstGeom>
          <a:solidFill>
            <a:srgbClr val="FBF8F2"/>
          </a:solidFill>
          <a:ln>
            <a:noFill/>
          </a:ln>
          <a:effectLst>
            <a:outerShdw blurRad="91440" dist="45720" dir="5400000" rotWithShape="0">
              <a:srgbClr val="3D2B1E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" y="2898648"/>
            <a:ext cx="457200" cy="457200"/>
          </a:xfrm>
          <a:prstGeom prst="ellipse">
            <a:avLst/>
          </a:prstGeom>
          <a:solidFill>
            <a:srgbClr val="3D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C1592F"/>
                </a:solidFill>
                <a:latin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871216"/>
            <a:ext cx="2442362" cy="1746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50" b="1" i="0">
                <a:solidFill>
                  <a:srgbClr val="3D2B1E"/>
                </a:solidFill>
                <a:latin typeface="Calibri"/>
              </a:rPr>
              <a:t>Ejecución en orden</a:t>
            </a:r>
          </a:p>
          <a:p>
            <a:pPr>
              <a:lnSpc>
                <a:spcPct val="112000"/>
              </a:lnSpc>
            </a:pPr>
            <a:r>
              <a:rPr sz="1250" b="0" i="0">
                <a:solidFill>
                  <a:srgbClr val="6B5F4E"/>
                </a:solidFill>
                <a:latin typeface="Calibri"/>
              </a:rPr>
              <a:t>Un notebook debe poder correr de principio a fin sin errores (kernel restart &amp; run all).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2602" y="2697480"/>
            <a:ext cx="3466490" cy="2148840"/>
          </a:xfrm>
          <a:prstGeom prst="roundRect">
            <a:avLst>
              <a:gd name="adj" fmla="val 7000"/>
            </a:avLst>
          </a:prstGeom>
          <a:solidFill>
            <a:srgbClr val="FBF8F2"/>
          </a:solidFill>
          <a:ln>
            <a:noFill/>
          </a:ln>
          <a:effectLst>
            <a:outerShdw blurRad="91440" dist="45720" dir="5400000" rotWithShape="0">
              <a:srgbClr val="3D2B1E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63770" y="2898648"/>
            <a:ext cx="457200" cy="457200"/>
          </a:xfrm>
          <a:prstGeom prst="ellipse">
            <a:avLst/>
          </a:prstGeom>
          <a:solidFill>
            <a:srgbClr val="3D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C1592F"/>
                </a:solidFill>
                <a:latin typeface="Cambr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5562" y="2871216"/>
            <a:ext cx="2442362" cy="1746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50" b="1" i="0">
                <a:solidFill>
                  <a:srgbClr val="3D2B1E"/>
                </a:solidFill>
                <a:latin typeface="Calibri"/>
              </a:rPr>
              <a:t>Nombres descriptivos</a:t>
            </a:r>
          </a:p>
          <a:p>
            <a:pPr>
              <a:lnSpc>
                <a:spcPct val="112000"/>
              </a:lnSpc>
            </a:pPr>
            <a:r>
              <a:rPr sz="1250" b="0" i="0">
                <a:solidFill>
                  <a:srgbClr val="6B5F4E"/>
                </a:solidFill>
                <a:latin typeface="Calibri"/>
              </a:rPr>
              <a:t>Nombrar variables de forma clara y evitar celdas “colgadas” sin propósito definido.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5124" y="2697480"/>
            <a:ext cx="3466490" cy="2148840"/>
          </a:xfrm>
          <a:prstGeom prst="roundRect">
            <a:avLst>
              <a:gd name="adj" fmla="val 7000"/>
            </a:avLst>
          </a:prstGeom>
          <a:solidFill>
            <a:srgbClr val="FBF8F2"/>
          </a:solidFill>
          <a:ln>
            <a:noFill/>
          </a:ln>
          <a:effectLst>
            <a:outerShdw blurRad="91440" dist="45720" dir="5400000" rotWithShape="0">
              <a:srgbClr val="3D2B1E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86292" y="2898648"/>
            <a:ext cx="457200" cy="457200"/>
          </a:xfrm>
          <a:prstGeom prst="ellipse">
            <a:avLst/>
          </a:prstGeom>
          <a:solidFill>
            <a:srgbClr val="3D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C1592F"/>
                </a:solidFill>
                <a:latin typeface="Cambria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08084" y="2871216"/>
            <a:ext cx="2442362" cy="1746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50" b="1" i="0">
                <a:solidFill>
                  <a:srgbClr val="3D2B1E"/>
                </a:solidFill>
                <a:latin typeface="Calibri"/>
              </a:rPr>
              <a:t>Reproducibilidad como calidad</a:t>
            </a:r>
          </a:p>
          <a:p>
            <a:pPr>
              <a:lnSpc>
                <a:spcPct val="112000"/>
              </a:lnSpc>
            </a:pPr>
            <a:r>
              <a:rPr sz="1250" b="0" i="0">
                <a:solidFill>
                  <a:srgbClr val="6B5F4E"/>
                </a:solidFill>
                <a:latin typeface="Calibri"/>
              </a:rPr>
              <a:t>Si otro analista no puede reproducir el resultado, el análisis no está terminado.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257800"/>
            <a:ext cx="10911535" cy="868680"/>
          </a:xfrm>
          <a:prstGeom prst="roundRect">
            <a:avLst>
              <a:gd name="adj" fmla="val 12000"/>
            </a:avLst>
          </a:prstGeom>
          <a:solidFill>
            <a:srgbClr val="3D2B1E"/>
          </a:solidFill>
          <a:ln>
            <a:noFill/>
          </a:ln>
          <a:effectLst>
            <a:outerShdw blurRad="91440" dist="45720" dir="5400000" rotWithShape="0">
              <a:srgbClr val="3D2B1E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257800"/>
            <a:ext cx="1027145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C1592F"/>
                </a:solidFill>
                <a:latin typeface="Calibri"/>
              </a:rPr>
              <a:t>La regla no escrita del seminario: </a:t>
            </a:r>
            <a:r>
              <a:rPr sz="1500" b="0" i="1">
                <a:solidFill>
                  <a:srgbClr val="FFFFFF"/>
                </a:solidFill>
                <a:latin typeface="Calibri"/>
              </a:rPr>
              <a:t>“Restart &amp; Run All” antes de entregar, siempre.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0_DIAGNOSTIC.IPYNB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Diagnóstico: propósito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1 · Fundamentos, Entorno y Diagnóstico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7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3D2B1E"/>
                </a:solidFill>
                <a:latin typeface="Calibri"/>
              </a:rPr>
              <a:t>No es un examen teórico, </a:t>
            </a:r>
            <a:r>
              <a:rPr sz="1700" b="0" i="0">
                <a:solidFill>
                  <a:srgbClr val="3D2B1E"/>
                </a:solidFill>
                <a:latin typeface="Calibri"/>
              </a:rPr>
              <a:t> sino una verificación de que el entorno funciona y de que el estudiante domina lo mínimo para avanzar.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7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3D2B1E"/>
                </a:solidFill>
                <a:latin typeface="Calibri"/>
              </a:rPr>
              <a:t>Cubre: </a:t>
            </a:r>
            <a:r>
              <a:rPr sz="1700" b="0" i="0">
                <a:solidFill>
                  <a:srgbClr val="3D2B1E"/>
                </a:solidFill>
                <a:latin typeface="Calibri"/>
              </a:rPr>
              <a:t> sintaxis básica de Python, manejo de librerías y conceptos estadísticos elementales.</a:t>
            </a:r>
          </a:p>
          <a:p>
            <a:pPr>
              <a:lnSpc>
                <a:spcPct val="120000"/>
              </a:lnSpc>
              <a:spcAft>
                <a:spcPts val="2000"/>
              </a:spcAft>
            </a:pPr>
            <a:r>
              <a:rPr sz="170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3D2B1E"/>
                </a:solidFill>
                <a:latin typeface="Calibri"/>
              </a:rPr>
              <a:t>No se califica ni se aprueba: </a:t>
            </a:r>
            <a:r>
              <a:rPr sz="1700" b="0" i="0">
                <a:solidFill>
                  <a:srgbClr val="3D2B1E"/>
                </a:solidFill>
                <a:latin typeface="Calibri"/>
              </a:rPr>
              <a:t> es el punto de partida para calibrar el ritmo de las primeras sesiones.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709160"/>
            <a:ext cx="3454298" cy="64008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>
            <a:outerShdw blurRad="91440" dist="45720" dir="5400000" rotWithShape="0">
              <a:srgbClr val="3D2B1E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709160"/>
            <a:ext cx="317997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3D2B1E"/>
                </a:solidFill>
                <a:latin typeface="Calibri"/>
              </a:rPr>
              <a:t>Sintaxis de Python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4709160"/>
            <a:ext cx="3454298" cy="64008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>
            <a:outerShdw blurRad="91440" dist="45720" dir="5400000" rotWithShape="0">
              <a:srgbClr val="3D2B1E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5858" y="4709160"/>
            <a:ext cx="317997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3D2B1E"/>
                </a:solidFill>
                <a:latin typeface="Calibri"/>
              </a:rPr>
              <a:t>Manejo de librerías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7316" y="4709160"/>
            <a:ext cx="3454298" cy="64008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>
            <a:outerShdw blurRad="91440" dist="45720" dir="5400000" rotWithShape="0">
              <a:srgbClr val="3D2B1E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4476" y="4709160"/>
            <a:ext cx="317997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3D2B1E"/>
                </a:solidFill>
                <a:latin typeface="Calibri"/>
              </a:rPr>
              <a:t>Estadística elemental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USO DE ASSERT PARA AUTOVERIFICACIÓN SIN DEPENDENCIAS EXTERNAS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Mecanismo de autoverificación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1 · Fundamentos, Entorno y Diagnóstico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911535" cy="1417320"/>
          </a:xfrm>
          <a:prstGeom prst="roundRect">
            <a:avLst>
              <a:gd name="adj" fmla="val 4500"/>
            </a:avLst>
          </a:prstGeom>
          <a:solidFill>
            <a:srgbClr val="1C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2" y="1975104"/>
            <a:ext cx="82296" cy="82296"/>
          </a:xfrm>
          <a:prstGeom prst="ellipse">
            <a:avLst/>
          </a:prstGeom>
          <a:solidFill>
            <a:srgbClr val="E06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0976" y="1975104"/>
            <a:ext cx="82296" cy="822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1975104"/>
            <a:ext cx="82296" cy="82296"/>
          </a:xfrm>
          <a:prstGeom prst="ellipse">
            <a:avLst/>
          </a:prstGeom>
          <a:solidFill>
            <a:srgbClr val="5BB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56816"/>
            <a:ext cx="10637215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050" b="0" i="1">
                <a:solidFill>
                  <a:srgbClr val="CBBBA8"/>
                </a:solidFill>
                <a:latin typeface="Calibri"/>
              </a:rPr>
              <a:t>0_Diagnostic.ipynb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194560"/>
            <a:ext cx="10436047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50" b="0" i="0">
                <a:solidFill>
                  <a:srgbClr val="F3ECE2"/>
                </a:solidFill>
                <a:latin typeface="Courier New"/>
              </a:rPr>
              <a:t>resultado = suma(2, 3)</a:t>
            </a:r>
          </a:p>
          <a:p>
            <a:pPr>
              <a:spcAft>
                <a:spcPts val="400"/>
              </a:spcAft>
            </a:pPr>
            <a:r>
              <a:rPr sz="1450" b="0" i="0">
                <a:solidFill>
                  <a:srgbClr val="F3ECE2"/>
                </a:solidFill>
                <a:latin typeface="Courier New"/>
              </a:rPr>
              <a:t>assert resultado == 5, "La función suma no retorna el valor esperado"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20440"/>
            <a:ext cx="10911535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5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450" b="1" i="0">
                <a:solidFill>
                  <a:srgbClr val="3D2B1E"/>
                </a:solidFill>
                <a:latin typeface="Calibri"/>
              </a:rPr>
              <a:t>assert </a:t>
            </a:r>
            <a:r>
              <a:rPr sz="1450" b="0" i="0">
                <a:solidFill>
                  <a:srgbClr val="3D2B1E"/>
                </a:solidFill>
                <a:latin typeface="Calibri"/>
              </a:rPr>
              <a:t> permite validar resultados de forma automática, sin necesidad de un profesor revisando manualmente cada notebook.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5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450" b="1" i="0">
                <a:solidFill>
                  <a:srgbClr val="3D2B1E"/>
                </a:solidFill>
                <a:latin typeface="Calibri"/>
              </a:rPr>
              <a:t>Si la aserción falla, </a:t>
            </a:r>
            <a:r>
              <a:rPr sz="1450" b="0" i="0">
                <a:solidFill>
                  <a:srgbClr val="3D2B1E"/>
                </a:solidFill>
                <a:latin typeface="Calibri"/>
              </a:rPr>
              <a:t> el notebook detiene la ejecución — señal inmediata de dónde está el error.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50" b="1" i="0">
                <a:solidFill>
                  <a:srgbClr val="9C4422"/>
                </a:solidFill>
                <a:latin typeface="Calibri"/>
              </a:rPr>
              <a:t>▸  </a:t>
            </a:r>
            <a:r>
              <a:rPr sz="1450" b="1" i="0">
                <a:solidFill>
                  <a:srgbClr val="3D2B1E"/>
                </a:solidFill>
                <a:latin typeface="Calibri"/>
              </a:rPr>
              <a:t>Se usará el mismo mecanismo </a:t>
            </a:r>
            <a:r>
              <a:rPr sz="1450" b="0" i="0">
                <a:solidFill>
                  <a:srgbClr val="3D2B1E"/>
                </a:solidFill>
                <a:latin typeface="Calibri"/>
              </a:rPr>
              <a:t> en módulos posteriores para validar transformaciones de datos y resultados de modelos.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BASE MÍNIMA ANTES DE AVANZAR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Repaso de conceptos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1 · Fundamentos, Entorno y Diagnóstico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103120"/>
          <a:ext cx="10911535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64614"/>
                <a:gridCol w="6546921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Área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Conceptos revisados</a:t>
                      </a:r>
                    </a:p>
                  </a:txBody>
                  <a:tcPr marL="109728" marR="109728" marT="54864" marB="54864" anchor="ctr">
                    <a:solidFill>
                      <a:srgbClr val="3D2B1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3D2B1E"/>
                          </a:solidFill>
                          <a:latin typeface="Calibri"/>
                        </a:rPr>
                        <a:t>Lógica de programación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6B5F4E"/>
                          </a:solidFill>
                          <a:latin typeface="Calibri"/>
                        </a:rPr>
                        <a:t>Condicionales, bucles, funciones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3D2B1E"/>
                          </a:solidFill>
                          <a:latin typeface="Calibri"/>
                        </a:rPr>
                        <a:t>Estructuras de datos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6B5F4E"/>
                          </a:solidFill>
                          <a:latin typeface="Calibri"/>
                        </a:rPr>
                        <a:t>Listas, diccionarios, indexación</a:t>
                      </a:r>
                    </a:p>
                  </a:txBody>
                  <a:tcPr marL="109728" marR="109728" marT="54864" marB="54864" anchor="ctr">
                    <a:solidFill>
                      <a:srgbClr val="F5EFE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3D2B1E"/>
                          </a:solidFill>
                          <a:latin typeface="Calibri"/>
                        </a:rPr>
                        <a:t>Estadística elemental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6B5F4E"/>
                          </a:solidFill>
                          <a:latin typeface="Calibri"/>
                        </a:rPr>
                        <a:t>Media, mediana, varianza, distribución</a:t>
                      </a:r>
                    </a:p>
                  </a:txBody>
                  <a:tcPr marL="109728" marR="109728" marT="54864" marB="54864" anchor="ctr"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800600"/>
            <a:ext cx="1091153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400" b="0" i="1">
                <a:solidFill>
                  <a:srgbClr val="6B5F4E"/>
                </a:solidFill>
                <a:latin typeface="Calibri"/>
              </a:rPr>
              <a:t>Estos conceptos no se re-enseñan en los notebooks técnicos: se asumen dominados desde el diagnóstico inicial.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9C4422"/>
                </a:solidFill>
                <a:latin typeface="Calibri"/>
              </a:rPr>
              <a:t>DEL CÓDIGO AL PROBLEMA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3D2B1E"/>
                </a:solidFill>
                <a:latin typeface="Cambria"/>
              </a:rPr>
              <a:t>Puente multidisciplinar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B5F4E"/>
                </a:solidFill>
                <a:latin typeface="Calibri"/>
              </a:rPr>
              <a:t>Presentación 1 · Fundamentos, Entorno y Diagnóstico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3466490" cy="2788920"/>
          </a:xfrm>
          <a:prstGeom prst="roundRect">
            <a:avLst>
              <a:gd name="adj" fmla="val 7000"/>
            </a:avLst>
          </a:prstGeom>
          <a:solidFill>
            <a:srgbClr val="FBF8F2"/>
          </a:solidFill>
          <a:ln>
            <a:noFill/>
          </a:ln>
          <a:effectLst>
            <a:outerShdw blurRad="91440" dist="45720" dir="5400000" rotWithShape="0">
              <a:srgbClr val="3D2B1E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" y="1984248"/>
            <a:ext cx="457200" cy="457200"/>
          </a:xfrm>
          <a:prstGeom prst="ellipse">
            <a:avLst/>
          </a:prstGeom>
          <a:solidFill>
            <a:srgbClr val="3D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C1592F"/>
                </a:solidFill>
                <a:latin typeface="Cambria"/>
              </a:rPr>
              <a:t>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956816"/>
            <a:ext cx="2442362" cy="2386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50" b="1" i="0">
                <a:solidFill>
                  <a:srgbClr val="3D2B1E"/>
                </a:solidFill>
                <a:latin typeface="Calibri"/>
              </a:rPr>
              <a:t>Salud</a:t>
            </a:r>
          </a:p>
          <a:p>
            <a:pPr>
              <a:lnSpc>
                <a:spcPct val="112000"/>
              </a:lnSpc>
            </a:pPr>
            <a:r>
              <a:rPr sz="1250" b="0" i="0">
                <a:solidFill>
                  <a:srgbClr val="6B5F4E"/>
                </a:solidFill>
                <a:latin typeface="Calibri"/>
              </a:rPr>
              <a:t>Un diccionario de Python puede representar el registro clínico de un paciente; una lista puede modelar una serie de mediciones.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2602" y="1783080"/>
            <a:ext cx="3466490" cy="2788920"/>
          </a:xfrm>
          <a:prstGeom prst="roundRect">
            <a:avLst>
              <a:gd name="adj" fmla="val 7000"/>
            </a:avLst>
          </a:prstGeom>
          <a:solidFill>
            <a:srgbClr val="FBF8F2"/>
          </a:solidFill>
          <a:ln>
            <a:noFill/>
          </a:ln>
          <a:effectLst>
            <a:outerShdw blurRad="91440" dist="45720" dir="5400000" rotWithShape="0">
              <a:srgbClr val="3D2B1E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63770" y="1984248"/>
            <a:ext cx="457200" cy="457200"/>
          </a:xfrm>
          <a:prstGeom prst="ellipse">
            <a:avLst/>
          </a:prstGeom>
          <a:solidFill>
            <a:srgbClr val="3D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C1592F"/>
                </a:solidFill>
                <a:latin typeface="Cambria"/>
              </a:rPr>
              <a:t>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5562" y="1956816"/>
            <a:ext cx="2442362" cy="2386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50" b="1" i="0">
                <a:solidFill>
                  <a:srgbClr val="3D2B1E"/>
                </a:solidFill>
                <a:latin typeface="Calibri"/>
              </a:rPr>
              <a:t>Economía</a:t>
            </a:r>
          </a:p>
          <a:p>
            <a:pPr>
              <a:lnSpc>
                <a:spcPct val="112000"/>
              </a:lnSpc>
            </a:pPr>
            <a:r>
              <a:rPr sz="1250" b="0" i="0">
                <a:solidFill>
                  <a:srgbClr val="6B5F4E"/>
                </a:solidFill>
                <a:latin typeface="Calibri"/>
              </a:rPr>
              <a:t>Una función que calcula un indicador financiero es análoga a una fórmula de negocio ya conocida por el estudiante.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5124" y="1783080"/>
            <a:ext cx="3466490" cy="2788920"/>
          </a:xfrm>
          <a:prstGeom prst="roundRect">
            <a:avLst>
              <a:gd name="adj" fmla="val 7000"/>
            </a:avLst>
          </a:prstGeom>
          <a:solidFill>
            <a:srgbClr val="FBF8F2"/>
          </a:solidFill>
          <a:ln>
            <a:noFill/>
          </a:ln>
          <a:effectLst>
            <a:outerShdw blurRad="91440" dist="45720" dir="5400000" rotWithShape="0">
              <a:srgbClr val="3D2B1E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86292" y="1984248"/>
            <a:ext cx="457200" cy="457200"/>
          </a:xfrm>
          <a:prstGeom prst="ellipse">
            <a:avLst/>
          </a:prstGeom>
          <a:solidFill>
            <a:srgbClr val="3D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C1592F"/>
                </a:solidFill>
                <a:latin typeface="Cambria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08084" y="1956816"/>
            <a:ext cx="2442362" cy="2386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50" b="1" i="0">
                <a:solidFill>
                  <a:srgbClr val="3D2B1E"/>
                </a:solidFill>
                <a:latin typeface="Calibri"/>
              </a:rPr>
              <a:t>Comunicación</a:t>
            </a:r>
          </a:p>
          <a:p>
            <a:pPr>
              <a:lnSpc>
                <a:spcPct val="112000"/>
              </a:lnSpc>
            </a:pPr>
            <a:r>
              <a:rPr sz="1250" b="0" i="0">
                <a:solidFill>
                  <a:srgbClr val="6B5F4E"/>
                </a:solidFill>
                <a:latin typeface="Calibri"/>
              </a:rPr>
              <a:t>La lógica condicional (if/else) es la misma que rige la segmentación de audiencias en una campaña.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800600"/>
            <a:ext cx="10911535" cy="1051560"/>
          </a:xfrm>
          <a:prstGeom prst="roundRect">
            <a:avLst>
              <a:gd name="adj" fmla="val 9000"/>
            </a:avLst>
          </a:prstGeom>
          <a:solidFill>
            <a:srgbClr val="3D2B1E"/>
          </a:solidFill>
          <a:ln>
            <a:noFill/>
          </a:ln>
          <a:effectLst>
            <a:outerShdw blurRad="91440" dist="45720" dir="5400000" rotWithShape="0">
              <a:srgbClr val="3D2B1E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800600"/>
            <a:ext cx="1027145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 i="1">
                <a:solidFill>
                  <a:srgbClr val="C1592F"/>
                </a:solidFill>
                <a:latin typeface="Cambria"/>
              </a:rPr>
              <a:t>El código no reemplaza el conocimiento de dominio, lo amplifica.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9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60">
                <a:solidFill>
                  <a:srgbClr val="C1592F"/>
                </a:solidFill>
                <a:latin typeface="Calibri"/>
              </a:rPr>
              <a:t>VERIFICACIÓN FINAL ANTES DE AVANZAR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Cierre y 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CBBBA8"/>
                </a:solidFill>
                <a:latin typeface="Calibri"/>
              </a:rPr>
              <a:t>Presentación 1 · Fundamentos, Entorno y Diagnóstico</a:t>
            </a:r>
          </a:p>
        </p:txBody>
      </p:sp>
      <p:sp>
        <p:nvSpPr>
          <p:cNvPr id="6" name="Oval 5"/>
          <p:cNvSpPr/>
          <p:nvPr/>
        </p:nvSpPr>
        <p:spPr>
          <a:xfrm>
            <a:off x="11240719" y="6419088"/>
            <a:ext cx="310896" cy="310896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 i="0">
                <a:solidFill>
                  <a:srgbClr val="241911"/>
                </a:solidFill>
                <a:latin typeface="Calibri"/>
              </a:rPr>
              <a:t>12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965960"/>
            <a:ext cx="457200" cy="457200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 i="0">
                <a:solidFill>
                  <a:srgbClr val="241911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65960"/>
            <a:ext cx="1018001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Confirmar entorno activo: python --version, pip list.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834640"/>
            <a:ext cx="457200" cy="457200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 i="0">
                <a:solidFill>
                  <a:srgbClr val="241911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34640"/>
            <a:ext cx="1018001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Confirmar notebook 0_Diagnostic.ipynb ejecutado sin errores.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703320"/>
            <a:ext cx="457200" cy="457200"/>
          </a:xfrm>
          <a:prstGeom prst="ellipse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 i="0">
                <a:solidFill>
                  <a:srgbClr val="241911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703320"/>
            <a:ext cx="1018001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Confirmar estructura de carpetas (data/, models/, notebooks/, output/) creada.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074920"/>
            <a:ext cx="10911535" cy="1005840"/>
          </a:xfrm>
          <a:prstGeom prst="roundRect">
            <a:avLst>
              <a:gd name="adj" fmla="val 10000"/>
            </a:avLst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074920"/>
            <a:ext cx="10271455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700" b="1" i="0">
                <a:solidFill>
                  <a:srgbClr val="241911"/>
                </a:solidFill>
                <a:latin typeface="Cambria"/>
              </a:rPr>
              <a:t>Siguiente paso: </a:t>
            </a:r>
            <a:r>
              <a:rPr sz="1700" b="0" i="0">
                <a:solidFill>
                  <a:srgbClr val="241911"/>
                </a:solidFill>
                <a:latin typeface="Calibri"/>
              </a:rPr>
              <a:t>obtención del dataset Telco Customer Churn (Módulo 4).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