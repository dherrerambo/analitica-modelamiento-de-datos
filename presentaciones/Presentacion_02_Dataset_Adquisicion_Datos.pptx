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E2E04-1B5A-4D6B-BE65-61F4CAC4AF35}" v="1" dt="2026-08-21T21:21:13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Herrera M." userId="7f434f5315031350" providerId="LiveId" clId="{0E21904C-ADBC-437A-ACA4-7BD1B7FCB9FC}"/>
    <pc:docChg chg="addSld modSld sldOrd">
      <pc:chgData name="Diego Herrera M." userId="7f434f5315031350" providerId="LiveId" clId="{0E21904C-ADBC-437A-ACA4-7BD1B7FCB9FC}" dt="2026-08-21T21:21:16.182" v="2"/>
      <pc:docMkLst>
        <pc:docMk/>
      </pc:docMkLst>
      <pc:sldChg chg="add ord">
        <pc:chgData name="Diego Herrera M." userId="7f434f5315031350" providerId="LiveId" clId="{0E21904C-ADBC-437A-ACA4-7BD1B7FCB9FC}" dt="2026-08-21T21:21:16.182" v="2"/>
        <pc:sldMkLst>
          <pc:docMk/>
          <pc:sldMk cId="2992239400" sldId="3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DBBE4859-49C9-ED88-BD3B-D075F3A24D5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7EACCEB7-5963-84F6-5407-3E8C31FD4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Analítica y modelamiento de datos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6C0A663-6C6F-9562-0D9E-5618BCC97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Especialización en Analítica de Datos</a:t>
            </a:r>
            <a:endParaRPr lang="es-CO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4C4ABCE-91BC-071C-C03C-7DFC2A06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347" y="3560094"/>
            <a:ext cx="2667000" cy="762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872CBC3-B3C7-1D1C-DE82-837AD58F326F}"/>
              </a:ext>
            </a:extLst>
          </p:cNvPr>
          <p:cNvSpPr txBox="1"/>
          <p:nvPr/>
        </p:nvSpPr>
        <p:spPr>
          <a:xfrm>
            <a:off x="11049000" y="6546998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/>
              <a:t>2026.Ago.21</a:t>
            </a:r>
          </a:p>
        </p:txBody>
      </p:sp>
    </p:spTree>
    <p:extLst>
      <p:ext uri="{BB962C8B-B14F-4D97-AF65-F5344CB8AC3E}">
        <p14:creationId xmlns:p14="http://schemas.microsoft.com/office/powerpoint/2010/main" val="299223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MÓDULO 4 · PRESENTACIÓN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Dataset Telco Customer Churn y Obtención de Datos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578608"/>
            <a:ext cx="10116007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Objetivo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Presentar el caso de negocio unificador del seminario y automatizar el proceso de ingesta de datos.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3785616"/>
            <a:ext cx="10116007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Audiencia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Profesionales de Salud, Economía, Comunicación e Ingeniería.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992624"/>
            <a:ext cx="10116007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Conexión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Primer contacto con el dataset que se transformará y modelará en todos los módulos siguientes.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12" name="Oval 11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CHURN: EL PROBLEMA DE NEGOCIO DETRÁS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El caso unificador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Churn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(deserción/fuga de clientes) es la pérdida de un cliente que deja de consumir un servicio — en este caso, una compañía de telecomunicaciones.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Es un problema de clasificación binaria: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cada cliente termina etiquetado como Churn = Yes o Churn = No.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Retener un cliente existente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es sistemáticamente más económico que adquirir uno nuevo — de ahí el valor estratégico de anticipar la fuga.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EL MISMO PROBLEMA, DISTINTOS NOMBRES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Relevancia multisectorial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Fenómeno equivalente a Churn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Telecomunicaciones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Cancelación de servicio / cambio de operador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Salud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Abandono de tratamiento, no adherencia, fuga de afiliados EPS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Comunicación / Medios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Fuga de audiencia, cancelación de suscripción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Finanzas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Cierre de cuentas, pérdida de clientes activos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0640"/>
            <a:ext cx="1091153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El algoritmo no cambia entre sectores; cambia la variable objetivo y su interpretación de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TELCO CUSTOMER CHURN — 7.043 REGISTROS, 21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Estructura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Variables (ejemplos)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3D2B1E"/>
                          </a:solidFill>
                          <a:latin typeface="Calibri"/>
                        </a:rPr>
                        <a:t>Demográficas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6B5F4E"/>
                          </a:solidFill>
                          <a:latin typeface="Calibri"/>
                        </a:rPr>
                        <a:t>gender, SeniorCitizen, Partner, Dependents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3D2B1E"/>
                          </a:solidFill>
                          <a:latin typeface="Calibri"/>
                        </a:rPr>
                        <a:t>Servicios contratados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6B5F4E"/>
                          </a:solidFill>
                          <a:latin typeface="Calibri"/>
                        </a:rPr>
                        <a:t>PhoneService, InternetService, OnlineSecurity, StreamingTV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3D2B1E"/>
                          </a:solidFill>
                          <a:latin typeface="Calibri"/>
                        </a:rPr>
                        <a:t>Información contractual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6B5F4E"/>
                          </a:solidFill>
                          <a:latin typeface="Calibri"/>
                        </a:rPr>
                        <a:t>Contract, PaperlessBilling, PaymentMethod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3D2B1E"/>
                          </a:solidFill>
                          <a:latin typeface="Calibri"/>
                        </a:rPr>
                        <a:t>Información financiera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6B5F4E"/>
                          </a:solidFill>
                          <a:latin typeface="Calibri"/>
                        </a:rPr>
                        <a:t>MonthlyCharges, TotalCharges, tenure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3D2B1E"/>
                          </a:solidFill>
                          <a:latin typeface="Calibri"/>
                        </a:rPr>
                        <a:t>Variable objetivo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6B5F4E"/>
                          </a:solidFill>
                          <a:latin typeface="Calibri"/>
                        </a:rPr>
                        <a:t>Churn (Yes/No)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1_GETDATA.IPYNB: POR QUÉ AUTOMATIZAR LA INGESTA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Automatización del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Un pipeline de ingesta reproducible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evita que cada estudiante descargue manualmente una copia distinta del dataset.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Garantiza que todos trabajen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sobre la misma versión de los datos, condición necesaria para comparar resultados entre módulos.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Primer eslabón de la cadena de reproducibilidad: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sin ingesta controlada, no hay trazabilidad de lo que sigue.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INGESTA VÍA KAGGLEHUB O REPOSITORIOS REMOTOS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Descarga integrada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2542032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1_GetData.ipynb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2029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import kagglehub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F3ECE2"/>
              </a:solidFill>
              <a:latin typeface="Courier New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path = kagglehub.dataset_download(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    "blastchar/telco-customer-churn"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print("Dataset descargado en:", path)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45152"/>
            <a:ext cx="10911535" cy="1664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kagglehub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automatiza la autenticación y descarga desde Kaggle sin pasos manuales.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Alternativa sin credenciales de Kaggle: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descargar el archivo manualmente desde la página del dataset y ubicarlo en data/ — el notebook lee de ahí con fName = "../data/WA_Fn-UseC_-Telco-Customer-Churn.csv" si kagglehub no está configurado.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PREPARAR LA ESTRUCTURA ANTES DE RECIBIR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Creación dinámica de directorios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83664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1_GetData.ipynb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import os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F3ECE2"/>
              </a:solidFill>
              <a:latin typeface="Courier New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for carpeta in ["data", "models", "output"]: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    os.makedirs(carpeta, exist_ok=True)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11535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exist_ok=True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evita errores si la carpeta ya existe — el script es idempotente (se puede ejecutar varias veces sin romperse).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Esta estructura es la misma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definida en el Módulo 1; se mantiene inalterada durante todo el seminario.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PRIMER CONTACTO CON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Inspección primaria en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41732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1_GetData.ipynb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df.info()    # tipos de dato, nulos, memoria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df.head()    # primeras 5 filas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df.shape     # (7043, 21)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520440"/>
          <a:ext cx="10911534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19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responde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.info()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¿Qué tipo de dato tiene cada columna y hay nulos?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.head()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¿Cómo lucen los datos “en crudo”?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.shape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¿Cuántas filas y columnas hay?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DETECCIÓN DE TIPOS DE DATOS INCORRECTOS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Validación del esquema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Caso real en este dataset: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TotalCharges se lee como object (texto) en lugar de float, porque contiene valores vacíos en clientes con tenure = 0.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Regla práctica: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toda variable que debería ser numérica pero aparece como object es señal de datos sucios — nunca asumir que el tipo inferido por pandas es correcto.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Esta validación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es el puente directo hacia el Módulo 5 (EDA) y el Módulo 6 (Feature Engineering).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GUARDADO DEL DATASET CRUDO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Persistencia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1_GetData.ipynb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df.to_csv("data/raw_data.csv", index=False)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091153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El dataset crudo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se persiste sin modificaciones — es la “fuente de verdad” a la que siempre se puede volver.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Separar raw_data.csv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de los datos ya transformados evita el riesgo de sobrescribir la fuente original durante la limpieza.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CHECKLIST ANTES DE AVANZAR AL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Criterios de calidad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101800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3D2B1E"/>
                </a:solidFill>
                <a:latin typeface="Calibri"/>
              </a:rPr>
              <a:t>¿El número de filas coincide con lo esperado (7.043)?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24328"/>
            <a:ext cx="101800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3D2B1E"/>
                </a:solidFill>
                <a:latin typeface="Calibri"/>
              </a:rPr>
              <a:t>¿Existen columnas con nulos explícitos o implícitos (cadenas vacías)?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82696"/>
            <a:ext cx="101800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3D2B1E"/>
                </a:solidFill>
                <a:latin typeface="Calibri"/>
              </a:rPr>
              <a:t>¿Los tipos de dato inferidos corresponden a la naturaleza real de cada variable?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941064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41064"/>
            <a:ext cx="101800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3D2B1E"/>
                </a:solidFill>
                <a:latin typeface="Calibri"/>
              </a:rPr>
              <a:t>¿La variable objetivo (Churn) está presente y sin valores faltantes?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73752"/>
            <a:ext cx="10911535" cy="1005840"/>
          </a:xfrm>
          <a:prstGeom prst="roundRect">
            <a:avLst>
              <a:gd name="adj" fmla="val 10000"/>
            </a:avLst>
          </a:prstGeom>
          <a:solidFill>
            <a:srgbClr val="3D2B1E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873752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1">
                <a:solidFill>
                  <a:srgbClr val="FFFFFF"/>
                </a:solidFill>
                <a:latin typeface="Cambria"/>
              </a:rPr>
              <a:t>Ningún dataset “crudo” se considera confiable hasta pasar por este checklist.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DE LA ADQUISICIÓN AL ANÁLISIS EXPLORATORIO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Conclusión y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2 · Dataset y Adquisición de Datos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1800" b="1" i="0">
                <a:solidFill>
                  <a:srgbClr val="C1592F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Con los datos descargados, estructurados y validados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 en su esquema básico, el dataset queda listo para un análisis más profundo.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10911535" cy="1051560"/>
          </a:xfrm>
          <a:prstGeom prst="roundRect">
            <a:avLst>
              <a:gd name="adj" fmla="val 10000"/>
            </a:avLst>
          </a:prstGeom>
          <a:solidFill>
            <a:srgbClr val="C1592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27145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41911"/>
                </a:solidFill>
                <a:latin typeface="Calibri"/>
              </a:rPr>
              <a:t>Siguiente módulo: </a:t>
            </a:r>
            <a:r>
              <a:rPr sz="1700" b="0" i="1">
                <a:solidFill>
                  <a:srgbClr val="241911"/>
                </a:solidFill>
                <a:latin typeface="Calibri"/>
              </a:rPr>
              <a:t>Análisis de Datos Exploratorio (EDA) — distribuciones, desbalance de clases y relaciones entre variables (Módulo 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1054</Words>
  <Application>Microsoft Office PowerPoint</Application>
  <PresentationFormat>Panorámica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Analítica y modelamiento de datos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Herrera M.</cp:lastModifiedBy>
  <cp:revision>1</cp:revision>
  <dcterms:created xsi:type="dcterms:W3CDTF">2013-01-27T09:14:16Z</dcterms:created>
  <dcterms:modified xsi:type="dcterms:W3CDTF">2026-08-21T21:21:22Z</dcterms:modified>
  <cp:category/>
</cp:coreProperties>
</file>