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MÓDULO 8 · PRESENTACIÓN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Optimización e Hiperparámetros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578608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Objetivo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Búsqueda sistemática de hiperparámetros, ajuste de umbrales de decisión y técnicas de remuestreo para balance de clases.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13048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3785616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Audiencia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Profesionales de Salud, Economía, Comunicación e Ingeniería.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4992624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Conexión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Toma los modelos base entrenados en el Módulo 7 y los lleva a su versión ajustada, lista para comparación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12" name="Oval 11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¿QUÉ APRENDE EL MODELO Y QUÉ CONFIGURA EL ANALISTA?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Parámetros vs. Hiperparámetros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9653"/>
                <a:gridCol w="5128421"/>
                <a:gridCol w="32734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Definición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Se aprende automáticamente durante el entrenamiento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Coeficientes de la Regresión Logística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Hiperparámetro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Se define antes de entrenar, controla el proceso de aprendizaje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max_depth, n_estimators, C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86784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Un modelo "óptimo" del Módulo 7 solo lo era con hiperparámetros por defecto — este módulo busca los valores que realmente maximizan el desempeño.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DIAGNÓSTICO DE OVERFITTING Y UNDERFITTING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El dilema sesgo-varianza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3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7883"/>
                <a:gridCol w="1636730"/>
                <a:gridCol w="1964076"/>
                <a:gridCol w="458284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Síntoma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Diagnóstico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Underfitting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Alto sesgo — modelo muy simple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Overfitting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Alta varianza — memorizó, no generalizó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Ajuste adecuado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Alto (similar)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Balance óptimo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53712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Un Random Forest sin límite de profundidad (Módulo 7) es candidato natural a overfitting — memoriza el ruido del set de entrenamiento. Señal real de esto: el recall en train del Árbol de Decisión cae de ~0.99 a ~0.62 después del Grid Search — no es un fracaso, es la prueba de que el modelo por defecto estaba sobreajustado.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GRIDSEARCHCV VS. RANDOMIZEDSEARCHCV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Búsqueda sistemática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2212848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5_ModelOptimization.ipynb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>from sklearn.model_selection import GridSearchCV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>param_grid = {'max_depth': [4, 6, 8, 10], 'n_estimators': [100, 200]}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>grid = GridSearchCV(modelo, param_grid, cv=5, scoring='f1')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>grid.fit(X_train, y_train)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15968"/>
            <a:ext cx="10911535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GridSearchCV: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prueba todas las combinaciones exhaustivamente — espacio de búsqueda pequeño.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RandomizedSearchCV: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muestrea combinaciones al azar, un número fijo de veces — espacio de búsqueda grande o costoso.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AJUSTE DE MAX_DEPTH, MIN_SAMPLES_SPLIT Y N_ESTIMATORS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Optimización de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9037"/>
                <a:gridCol w="709249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Hiperparámetro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Efecto al aumentar su valor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Árboles más complejos → mayor riesgo de overfitting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min_samples_split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Exige más datos para dividir un nodo → árboles más simples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n_estimators (Random Forest)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Más árboles en el ensamble → mayor estabilidad, más costo computacional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53712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Estos tres hiperparámetros son los que más impacto tienen en el balance sesgo-varianza de los modelos basados en árboles.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SMOTE (OVER-SAMPLING) Y CLASS WEIGHTING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Tratamiento del desbalance de clases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883664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5_ModelOptimization.ipynb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from imblearn.over_sampling import SMOTE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smote = SMOTE(random_state=42)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X_train_bal, y_train_bal = smote.fit_resample(X_train, y_train)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11535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SMOTE: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genera ejemplos sintéticos de la clase minoritaria interpolando entre observaciones reales — nunca duplica, sintetiza.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Class Weighting: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penaliza más los errores sobre la clase minoritaria, sin alterar el dataset.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Regla crítica: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SMOTE se aplica solo sobre el set de entrenamiento, nunca sobre el set de prueba.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THRESHOLD TUNING: MOVER EL UMBRAL ESTÁNDAR DE 0.5 SEGÚN LA MÉTRICA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Ajuste del umbral de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Por defecto, predict() clasifica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como positivo (churn) toda probabilidad &gt; 0.5 — ese umbral no tiene ninguna justificación de negocio, es solo el valor por defecto de la librería.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Bajar el umbral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(ej. a 0.3) aumenta el Recall a costa de más Falsos Positivos — decisión coherente si el costo de un Falso Negativo es alto.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El umbral óptimo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se decide con la curva Precision-Recall, no con la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EVALUACIÓN ROBUSTA SIN FUGA DE INFORMACIÓN (DATA LEAKAGE)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Validación cruzada avanzada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883664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5_ModelOptimization.ipynb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3ECE2"/>
                </a:solidFill>
                <a:latin typeface="Courier New"/>
              </a:rPr>
              <a:t>from sklearn.pipeline import Pipeline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3ECE2"/>
                </a:solidFill>
                <a:latin typeface="Courier New"/>
              </a:rPr>
              <a:t>pipe = Pipeline([('scaler', StandardScaler()),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3ECE2"/>
                </a:solidFill>
                <a:latin typeface="Courier New"/>
              </a:rPr>
              <a:t>                 ('modelo', RandomForestClassifier())])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11535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Error frecuente: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ajustar el scaler o aplicar SMOTE sobre todo el dataset antes de dividir en folds — filtra información del set de validación hacia el entrenamiento.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Solución correcta: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usar Pipeline de scikit-learn, que aplica cada transformación dentro de cada fold, de forma aislada.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EXTRACCIÓN E INTERPRETACIÓN DE PREDICTORES CLAVE — SALIDA REAL DE 4_MODELING.IPYNB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Importancia de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9735" y="1783080"/>
            <a:ext cx="6212225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_Modeling_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039" y="1929384"/>
            <a:ext cx="5919617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feature_importances_ cuantifica cuánto contribuye cada variable a reducir la impureza en el Random Forest: MonthlyCharges y tenure dominan, coherente con los hallazgos del EDA.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GUARDADO DE EVALUACIONES EN OUTPUT/PREDICTIONS.XLSX O 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Exportación de resultados predichos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883664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5_ModelOptimization.ipynb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3ECE2"/>
                </a:solidFill>
                <a:latin typeface="Courier New"/>
              </a:rPr>
              <a:t>resultados = X_test.copy()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3ECE2"/>
                </a:solidFill>
                <a:latin typeface="Courier New"/>
              </a:rPr>
              <a:t>resultados['churn_real'] = y_test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3ECE2"/>
                </a:solidFill>
                <a:latin typeface="Courier New"/>
              </a:rPr>
              <a:t>resultados['churn_prob'] = modelo.predict_proba(X_test)[:, 1]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3ECE2"/>
                </a:solidFill>
                <a:latin typeface="Courier New"/>
              </a:rPr>
              <a:t>resultados.to_csv('output/predictions.csv', index=False)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11535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Persistir las predicciones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(no solo las métricas agregadas) permite auditar casos individuales — útil para retroalimentar al equipo de negocio.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Esta salida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es la que consumiría un equipo de retención comercial o un tablero de Power BI.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MODELO BASE VS. MODELO OPTIMIZADO — SALIDA REAL DE 5_MODELOPTIMIZATION.IPYNB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Cuadro comparativo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49278"/>
            <a:ext cx="5318607" cy="2308084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_ModelOptimization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695582"/>
            <a:ext cx="5025999" cy="20154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23625" y="1783080"/>
            <a:ext cx="4937370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_ModelOptimization_img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29" y="1929384"/>
            <a:ext cx="4644762" cy="3547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La optimización rara vez transforma un modelo mediocre en excelente — su valor real es hacer que el modelo responda a la métrica de negocio correcta (aquí, Recall de la clase Churn).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ELECCIÓN DEL MODELO CAMPEÓN PARA DESPLIEGUE/COMUNICACIÓN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6 · Optimización de Modelos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101800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El modelo campeón no es el de mayor Accuracy, sino el que mejor responde al costo de error del negocio (Módulo 7).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1800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Documentar la elección: hiperparámetros finales, umbral de decisión y justificación de negocio.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94760"/>
            <a:ext cx="101800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El modelo y sus resultados quedan serializados y exportados, listos para presentación ejecutiva.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911535" cy="1005840"/>
          </a:xfrm>
          <a:prstGeom prst="roundRect">
            <a:avLst>
              <a:gd name="adj" fmla="val 10000"/>
            </a:avLst>
          </a:prstGeom>
          <a:solidFill>
            <a:srgbClr val="C1592F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983480"/>
            <a:ext cx="102714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41911"/>
                </a:solidFill>
                <a:latin typeface="Calibri"/>
              </a:rPr>
              <a:t>Siguiente módulo: </a:t>
            </a:r>
            <a:r>
              <a:rPr sz="1700" b="0" i="1">
                <a:solidFill>
                  <a:srgbClr val="241911"/>
                </a:solidFill>
                <a:latin typeface="Calibri"/>
              </a:rPr>
              <a:t>Regresión — de predecir una categoría a predecir un valor continuo.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